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e7a69c6-5548-bb96-6c65-e0a3a2b94424}">
          <p14:sldIdLst>
            <p14:sldId id="256"/>
          </p14:sldIdLst>
        </p14:section>
        <p14:section name="Background" id="{dd820f58-cd38-c82c-afab-be67d6d1178f}">
          <p14:sldIdLst>
            <p14:sldId id="257"/>
            <p14:sldId id="258"/>
            <p14:sldId id="259"/>
          </p14:sldIdLst>
        </p14:section>
        <p14:section name="Process" id="{b6f0cd0b-564a-a2b7-1e4b-431eeb543163}">
          <p14:sldIdLst>
            <p14:sldId id="260"/>
            <p14:sldId id="261"/>
            <p14:sldId id="262"/>
          </p14:sldIdLst>
        </p14:section>
        <p14:section name="Design" id="{54649d31-a096-4399-7dbf-42e80d322f93}">
          <p14:sldIdLst>
            <p14:sldId id="263"/>
            <p14:sldId id="264"/>
            <p14:sldId id="265"/>
            <p14:sldId id="266"/>
          </p14:sldIdLst>
        </p14:section>
        <p14:section name="Results" id="{972b68fd-00c9-3ea0-2c29-6f2a2f29bb2d}">
          <p14:sldIdLst>
            <p14:sldId id="267"/>
            <p14:sldId id="268"/>
          </p14:sldIdLst>
        </p14:section>
        <p14:section name="Closing" id="{b6ee61e1-beea-9af3-4266-f70a4c33166a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I am Aruvi V. This presentation covers my summer internship project: the UI/UX design of EcoGuard, a pollution control system mobile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internship ran for 27 working days at Media Wave Technologies in Tiruchirappalli. I worked in the UI/UX design domain under my mentor Sivanika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air-quality apps show raw numbers. Our objective was to make the information simple, actionable and consistent for both citizens and control-room operators.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side shows what existing platforms do. Right side shows how EcoGuard fixes each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followed the seven stages of Design Thinking, from Empathize to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personas guided the design: Divya, a citizen who wants simple advice, and Suresh, an operator who needs fast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user flow. Citizens go from the splash screen to the dashboard, view details, receive alerts and report incidents. Operators use the control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system keeps the app consistent. The green and teal palette is calm, and the AQI colour scale follows the internationally recognised scheme.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screens: splash, login with guest access, sign up, and the home dashboard with the live AQI gauge and pollutant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screens help users understand pollutants, find nearby stations, read alerts and report incidents.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operators, the control panel shows sensor status and requires confirmation before any action. The health advisory screen gives advice for different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ten screens were connected in Figma to create an interactive prototype that simulates the user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Functional, UI and usability tests were carried out on the prototype. All eight test areas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internship gave me practical exposure to a full UI/UX workflow, from research to prototype and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 includes forecasting, voice queries, personalised alerts, Tamil support and real sensor integration.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1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B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640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CC63F"/>
                </a:solidFill>
              </a:rPr>
              <a:t>INTERNSHIP PRESENTATION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9601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Design of EcoGuard</a:t>
            </a:r>
            <a:endParaRPr lang="en-US" sz="3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286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DE7E0"/>
                </a:solidFill>
              </a:rPr>
              <a:t>Pollution Control System Mobile Application</a:t>
            </a:r>
            <a:endParaRPr lang="en-US" sz="2000" dirty="0"/>
          </a:p>
        </p:txBody>
      </p:sp>
      <p:sp>
        <p:nvSpPr>
          <p:cNvPr id="5" name="Tagline"/>
          <p:cNvSpPr txBox="1"/>
          <p:nvPr/>
        </p:nvSpPr>
        <p:spPr>
          <a:xfrm>
            <a:off x="54864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CC63F"/>
                </a:solidFill>
              </a:rPr>
              <a:t>Breathe. Monitor. Act.</a:t>
            </a:r>
            <a:endParaRPr lang="en-US" sz="1600" dirty="0"/>
          </a:p>
        </p:txBody>
      </p:sp>
      <p:sp>
        <p:nvSpPr>
          <p:cNvPr id="6" name="Presenter details"/>
          <p:cNvSpPr txBox="1"/>
          <p:nvPr/>
        </p:nvSpPr>
        <p:spPr>
          <a:xfrm>
            <a:off x="548640" y="3566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Aruvi V · 810023104027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DE7E0"/>
                </a:solidFill>
              </a:rPr>
              <a:t>Department of Computer Science and Engineering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DE7E0"/>
                </a:solidFill>
              </a:rPr>
              <a:t>University College of Engineering (BIT Campus)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DE7E0"/>
                </a:solidFill>
              </a:rPr>
              <a:t>Anna University, Tiruchirappalli – 620 024</a:t>
            </a:r>
            <a:endParaRPr lang="en-US" sz="1600" dirty="0"/>
          </a:p>
        </p:txBody>
      </p:sp>
      <p:pic>
        <p:nvPicPr>
          <p:cNvPr id="7" name="Splash screen" descr="EcoGuard splash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502920"/>
            <a:ext cx="1417320" cy="2990088"/>
          </a:xfrm>
          <a:prstGeom prst="rect">
            <a:avLst/>
          </a:prstGeom>
        </p:spPr>
      </p:pic>
      <p:pic>
        <p:nvPicPr>
          <p:cNvPr id="8" name="Home screen" descr="EcoGuard home dash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25880"/>
            <a:ext cx="1417320" cy="2990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at a Glance</a:t>
            </a:r>
            <a:endParaRPr lang="en-US" sz="3000" dirty="0"/>
          </a:p>
        </p:txBody>
      </p:sp>
      <p:sp>
        <p:nvSpPr>
          <p:cNvPr id="3" name="Fact card 1"/>
          <p:cNvSpPr/>
          <p:nvPr/>
        </p:nvSpPr>
        <p:spPr>
          <a:xfrm>
            <a:off x="457200" y="118872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Company bg"/>
          <p:cNvSpPr/>
          <p:nvPr/>
        </p:nvSpPr>
        <p:spPr>
          <a:xfrm>
            <a:off x="685800" y="15087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 Company" descr="Icon Comp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663294"/>
            <a:ext cx="285293" cy="285293"/>
          </a:xfrm>
          <a:prstGeom prst="rect">
            <a:avLst/>
          </a:prstGeom>
        </p:spPr>
      </p:pic>
      <p:sp>
        <p:nvSpPr>
          <p:cNvPr id="6" name="Company label"/>
          <p:cNvSpPr txBox="1"/>
          <p:nvPr/>
        </p:nvSpPr>
        <p:spPr>
          <a:xfrm>
            <a:off x="1463040" y="14447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COMPANY</a:t>
            </a:r>
            <a:endParaRPr lang="en-US" sz="1100" dirty="0"/>
          </a:p>
        </p:txBody>
      </p:sp>
      <p:sp>
        <p:nvSpPr>
          <p:cNvPr id="7" name="Company value"/>
          <p:cNvSpPr txBox="1"/>
          <p:nvPr/>
        </p:nvSpPr>
        <p:spPr>
          <a:xfrm>
            <a:off x="1463040" y="16916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Media Wave Technologies, Tiruchirappalli</a:t>
            </a:r>
            <a:endParaRPr lang="en-US" sz="1500" dirty="0"/>
          </a:p>
        </p:txBody>
      </p:sp>
      <p:sp>
        <p:nvSpPr>
          <p:cNvPr id="8" name="Fact card 2"/>
          <p:cNvSpPr/>
          <p:nvPr/>
        </p:nvSpPr>
        <p:spPr>
          <a:xfrm>
            <a:off x="4663440" y="118872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Duration bg"/>
          <p:cNvSpPr/>
          <p:nvPr/>
        </p:nvSpPr>
        <p:spPr>
          <a:xfrm>
            <a:off x="4892040" y="15087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 Duration" descr="Icon Du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574" y="1663294"/>
            <a:ext cx="285293" cy="285293"/>
          </a:xfrm>
          <a:prstGeom prst="rect">
            <a:avLst/>
          </a:prstGeom>
        </p:spPr>
      </p:pic>
      <p:sp>
        <p:nvSpPr>
          <p:cNvPr id="11" name="Duration label"/>
          <p:cNvSpPr txBox="1"/>
          <p:nvPr/>
        </p:nvSpPr>
        <p:spPr>
          <a:xfrm>
            <a:off x="5669280" y="14447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DURATION</a:t>
            </a:r>
            <a:endParaRPr lang="en-US" sz="1100" dirty="0"/>
          </a:p>
        </p:txBody>
      </p:sp>
      <p:sp>
        <p:nvSpPr>
          <p:cNvPr id="12" name="Duration value"/>
          <p:cNvSpPr txBox="1"/>
          <p:nvPr/>
        </p:nvSpPr>
        <p:spPr>
          <a:xfrm>
            <a:off x="5669280" y="16916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27 working days · 15 June – 15 July 2026</a:t>
            </a:r>
            <a:endParaRPr lang="en-US" sz="1500" dirty="0"/>
          </a:p>
        </p:txBody>
      </p:sp>
      <p:sp>
        <p:nvSpPr>
          <p:cNvPr id="13" name="Fact card 3"/>
          <p:cNvSpPr/>
          <p:nvPr/>
        </p:nvSpPr>
        <p:spPr>
          <a:xfrm>
            <a:off x="457200" y="260604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 Domain bg"/>
          <p:cNvSpPr/>
          <p:nvPr/>
        </p:nvSpPr>
        <p:spPr>
          <a:xfrm>
            <a:off x="685800" y="2926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 Domain" descr="Icon Dom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4" y="3080614"/>
            <a:ext cx="285293" cy="285293"/>
          </a:xfrm>
          <a:prstGeom prst="rect">
            <a:avLst/>
          </a:prstGeom>
        </p:spPr>
      </p:pic>
      <p:sp>
        <p:nvSpPr>
          <p:cNvPr id="16" name="Domain label"/>
          <p:cNvSpPr txBox="1"/>
          <p:nvPr/>
        </p:nvSpPr>
        <p:spPr>
          <a:xfrm>
            <a:off x="1463040" y="2862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DOMAIN</a:t>
            </a:r>
            <a:endParaRPr lang="en-US" sz="1100" dirty="0"/>
          </a:p>
        </p:txBody>
      </p:sp>
      <p:sp>
        <p:nvSpPr>
          <p:cNvPr id="17" name="Domain value"/>
          <p:cNvSpPr txBox="1"/>
          <p:nvPr/>
        </p:nvSpPr>
        <p:spPr>
          <a:xfrm>
            <a:off x="1463040" y="31089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UI/UX Design, with Figma as the main tool</a:t>
            </a:r>
            <a:endParaRPr lang="en-US" sz="1500" dirty="0"/>
          </a:p>
        </p:txBody>
      </p:sp>
      <p:sp>
        <p:nvSpPr>
          <p:cNvPr id="18" name="Fact card 4"/>
          <p:cNvSpPr/>
          <p:nvPr/>
        </p:nvSpPr>
        <p:spPr>
          <a:xfrm>
            <a:off x="4663440" y="260604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 Mentor bg"/>
          <p:cNvSpPr/>
          <p:nvPr/>
        </p:nvSpPr>
        <p:spPr>
          <a:xfrm>
            <a:off x="4892040" y="2926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 Mentor" descr="Icon Men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574" y="3080614"/>
            <a:ext cx="285293" cy="285293"/>
          </a:xfrm>
          <a:prstGeom prst="rect">
            <a:avLst/>
          </a:prstGeom>
        </p:spPr>
      </p:pic>
      <p:sp>
        <p:nvSpPr>
          <p:cNvPr id="21" name="Mentor label"/>
          <p:cNvSpPr txBox="1"/>
          <p:nvPr/>
        </p:nvSpPr>
        <p:spPr>
          <a:xfrm>
            <a:off x="5669280" y="2862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MENTOR</a:t>
            </a:r>
            <a:endParaRPr lang="en-US" sz="1100" dirty="0"/>
          </a:p>
        </p:txBody>
      </p:sp>
      <p:sp>
        <p:nvSpPr>
          <p:cNvPr id="22" name="Mentor value"/>
          <p:cNvSpPr txBox="1"/>
          <p:nvPr/>
        </p:nvSpPr>
        <p:spPr>
          <a:xfrm>
            <a:off x="5669280" y="31089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Sivanika S (Software Developer), Joint Supervisor</a:t>
            </a:r>
            <a:endParaRPr lang="en-US" sz="1500" dirty="0"/>
          </a:p>
        </p:txBody>
      </p:sp>
      <p:sp>
        <p:nvSpPr>
          <p:cNvPr id="23" name="Tools line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Tools used: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Figma (design and prototype) · Google Fonts · Icon libraries · Image assets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and Our Objectives</a:t>
            </a:r>
            <a:endParaRPr lang="en-US" sz="30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88720"/>
            <a:ext cx="3383280" cy="3291840"/>
          </a:xfrm>
          <a:prstGeom prst="roundRect">
            <a:avLst>
              <a:gd name="adj" fmla="val 2222"/>
            </a:avLst>
          </a:prstGeom>
          <a:solidFill>
            <a:schemeClr val="accent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Problem label"/>
          <p:cNvSpPr txBox="1"/>
          <p:nvPr/>
        </p:nvSpPr>
        <p:spPr>
          <a:xfrm>
            <a:off x="68580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DE7E0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5" name="Problem text"/>
          <p:cNvSpPr txBox="1"/>
          <p:nvPr/>
        </p:nvSpPr>
        <p:spPr>
          <a:xfrm>
            <a:off x="685800" y="17373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Air pollution is a growing public-health concern, yet the data in many apps is raw, technical and hard to act on.</a:t>
            </a:r>
            <a:endParaRPr lang="en-US" sz="1800" dirty="0"/>
          </a:p>
        </p:txBody>
      </p:sp>
      <p:sp>
        <p:nvSpPr>
          <p:cNvPr id="6" name="Problem punchline"/>
          <p:cNvSpPr txBox="1"/>
          <p:nvPr/>
        </p:nvSpPr>
        <p:spPr>
          <a:xfrm>
            <a:off x="685800" y="3383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4F3EE"/>
                </a:solidFill>
              </a:rPr>
              <a:t>Citizens need clarity. Operators need quick control.</a:t>
            </a:r>
            <a:endParaRPr lang="en-US" sz="1400" dirty="0"/>
          </a:p>
        </p:txBody>
      </p:sp>
      <p:sp>
        <p:nvSpPr>
          <p:cNvPr id="7" name="Objective card 1"/>
          <p:cNvSpPr/>
          <p:nvPr/>
        </p:nvSpPr>
        <p:spPr>
          <a:xfrm>
            <a:off x="4114800" y="1188720"/>
            <a:ext cx="457200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Icon objective 1 bg"/>
          <p:cNvSpPr/>
          <p:nvPr/>
        </p:nvSpPr>
        <p:spPr>
          <a:xfrm>
            <a:off x="4251960" y="1280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 objective 1" descr="Icon objectiv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4606" y="1422806"/>
            <a:ext cx="263347" cy="263347"/>
          </a:xfrm>
          <a:prstGeom prst="rect">
            <a:avLst/>
          </a:prstGeom>
        </p:spPr>
      </p:pic>
      <p:sp>
        <p:nvSpPr>
          <p:cNvPr id="10" name="Objective title 1"/>
          <p:cNvSpPr txBox="1"/>
          <p:nvPr/>
        </p:nvSpPr>
        <p:spPr>
          <a:xfrm>
            <a:off x="4937760" y="1280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Simple, colour-coded AQI</a:t>
            </a:r>
            <a:endParaRPr lang="en-US" sz="1500" dirty="0"/>
          </a:p>
        </p:txBody>
      </p:sp>
      <p:sp>
        <p:nvSpPr>
          <p:cNvPr id="11" name="Objective text 1"/>
          <p:cNvSpPr txBox="1"/>
          <p:nvPr/>
        </p:nvSpPr>
        <p:spPr>
          <a:xfrm>
            <a:off x="493776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Air-quality data shown clearly at a glance</a:t>
            </a:r>
            <a:endParaRPr lang="en-US" sz="1200" dirty="0"/>
          </a:p>
        </p:txBody>
      </p:sp>
      <p:sp>
        <p:nvSpPr>
          <p:cNvPr id="12" name="Objective card 2"/>
          <p:cNvSpPr/>
          <p:nvPr/>
        </p:nvSpPr>
        <p:spPr>
          <a:xfrm>
            <a:off x="4114800" y="2039112"/>
            <a:ext cx="457200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Icon objective 2 bg"/>
          <p:cNvSpPr/>
          <p:nvPr/>
        </p:nvSpPr>
        <p:spPr>
          <a:xfrm>
            <a:off x="4251960" y="213055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 objective 2" descr="Icon objectiv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606" y="2273198"/>
            <a:ext cx="263347" cy="263347"/>
          </a:xfrm>
          <a:prstGeom prst="rect">
            <a:avLst/>
          </a:prstGeom>
        </p:spPr>
      </p:pic>
      <p:sp>
        <p:nvSpPr>
          <p:cNvPr id="15" name="Objective title 2"/>
          <p:cNvSpPr txBox="1"/>
          <p:nvPr/>
        </p:nvSpPr>
        <p:spPr>
          <a:xfrm>
            <a:off x="4937760" y="2130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Timely alerts with advice</a:t>
            </a:r>
            <a:endParaRPr lang="en-US" sz="1500" dirty="0"/>
          </a:p>
        </p:txBody>
      </p:sp>
      <p:sp>
        <p:nvSpPr>
          <p:cNvPr id="16" name="Objective text 2"/>
          <p:cNvSpPr txBox="1"/>
          <p:nvPr/>
        </p:nvSpPr>
        <p:spPr>
          <a:xfrm>
            <a:off x="493776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alert says what the user should do</a:t>
            </a:r>
            <a:endParaRPr lang="en-US" sz="1200" dirty="0"/>
          </a:p>
        </p:txBody>
      </p:sp>
      <p:sp>
        <p:nvSpPr>
          <p:cNvPr id="17" name="Objective card 3"/>
          <p:cNvSpPr/>
          <p:nvPr/>
        </p:nvSpPr>
        <p:spPr>
          <a:xfrm>
            <a:off x="4114800" y="2889504"/>
            <a:ext cx="457200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Icon objective 3 bg"/>
          <p:cNvSpPr/>
          <p:nvPr/>
        </p:nvSpPr>
        <p:spPr>
          <a:xfrm>
            <a:off x="4251960" y="298094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 objective 3" descr="Icon objectiv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606" y="3123590"/>
            <a:ext cx="263347" cy="263347"/>
          </a:xfrm>
          <a:prstGeom prst="rect">
            <a:avLst/>
          </a:prstGeom>
        </p:spPr>
      </p:pic>
      <p:sp>
        <p:nvSpPr>
          <p:cNvPr id="20" name="Objective title 3"/>
          <p:cNvSpPr txBox="1"/>
          <p:nvPr/>
        </p:nvSpPr>
        <p:spPr>
          <a:xfrm>
            <a:off x="4937760" y="29809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Quick incident reporting</a:t>
            </a:r>
            <a:endParaRPr lang="en-US" sz="1500" dirty="0"/>
          </a:p>
        </p:txBody>
      </p:sp>
      <p:sp>
        <p:nvSpPr>
          <p:cNvPr id="21" name="Objective text 3"/>
          <p:cNvSpPr txBox="1"/>
          <p:nvPr/>
        </p:nvSpPr>
        <p:spPr>
          <a:xfrm>
            <a:off x="493776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Photo, location and category in three steps</a:t>
            </a:r>
            <a:endParaRPr lang="en-US" sz="1200" dirty="0"/>
          </a:p>
        </p:txBody>
      </p:sp>
      <p:sp>
        <p:nvSpPr>
          <p:cNvPr id="22" name="Objective card 4"/>
          <p:cNvSpPr/>
          <p:nvPr/>
        </p:nvSpPr>
        <p:spPr>
          <a:xfrm>
            <a:off x="4114800" y="3739896"/>
            <a:ext cx="457200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Icon objective 4 bg"/>
          <p:cNvSpPr/>
          <p:nvPr/>
        </p:nvSpPr>
        <p:spPr>
          <a:xfrm>
            <a:off x="4251960" y="383133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 objective 4" descr="Icon objectiv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606" y="3973982"/>
            <a:ext cx="263347" cy="263347"/>
          </a:xfrm>
          <a:prstGeom prst="rect">
            <a:avLst/>
          </a:prstGeom>
        </p:spPr>
      </p:pic>
      <p:sp>
        <p:nvSpPr>
          <p:cNvPr id="25" name="Objective title 4"/>
          <p:cNvSpPr txBox="1"/>
          <p:nvPr/>
        </p:nvSpPr>
        <p:spPr>
          <a:xfrm>
            <a:off x="4937760" y="38313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Clear operator controls</a:t>
            </a:r>
            <a:endParaRPr lang="en-US" sz="1500" dirty="0"/>
          </a:p>
        </p:txBody>
      </p:sp>
      <p:sp>
        <p:nvSpPr>
          <p:cNvPr id="26" name="Objective text 4"/>
          <p:cNvSpPr txBox="1"/>
          <p:nvPr/>
        </p:nvSpPr>
        <p:spPr>
          <a:xfrm>
            <a:off x="4937760" y="4123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Sensor status and confirm-before-action buttons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Apps vs EcoGuard</a:t>
            </a:r>
            <a:endParaRPr lang="en-US" sz="3000" dirty="0"/>
          </a:p>
        </p:txBody>
      </p:sp>
      <p:sp>
        <p:nvSpPr>
          <p:cNvPr id="3" name="Existing card"/>
          <p:cNvSpPr/>
          <p:nvPr/>
        </p:nvSpPr>
        <p:spPr>
          <a:xfrm>
            <a:off x="457200" y="1143000"/>
            <a:ext cx="3977640" cy="3429000"/>
          </a:xfrm>
          <a:prstGeom prst="roundRect">
            <a:avLst>
              <a:gd name="adj" fmla="val 2133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EcoGuard card"/>
          <p:cNvSpPr/>
          <p:nvPr/>
        </p:nvSpPr>
        <p:spPr>
          <a:xfrm>
            <a:off x="4709160" y="1143000"/>
            <a:ext cx="3977640" cy="3429000"/>
          </a:xfrm>
          <a:prstGeom prst="roundRect">
            <a:avLst>
              <a:gd name="adj" fmla="val 2133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Existing label"/>
          <p:cNvSpPr txBox="1"/>
          <p:nvPr/>
        </p:nvSpPr>
        <p:spPr>
          <a:xfrm>
            <a:off x="6858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EXISTING APPS</a:t>
            </a:r>
            <a:endParaRPr lang="en-US" sz="1300" dirty="0"/>
          </a:p>
        </p:txBody>
      </p:sp>
      <p:sp>
        <p:nvSpPr>
          <p:cNvPr id="6" name="EcoGuard label"/>
          <p:cNvSpPr txBox="1"/>
          <p:nvPr/>
        </p:nvSpPr>
        <p:spPr>
          <a:xfrm>
            <a:off x="493776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ECOGUARD</a:t>
            </a:r>
            <a:endParaRPr lang="en-US" sz="1300" dirty="0"/>
          </a:p>
        </p:txBody>
      </p:sp>
      <p:pic>
        <p:nvPicPr>
          <p:cNvPr id="7" name="Cross 1" descr="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46504"/>
            <a:ext cx="182880" cy="182880"/>
          </a:xfrm>
          <a:prstGeom prst="rect">
            <a:avLst/>
          </a:prstGeom>
        </p:spPr>
      </p:pic>
      <p:sp>
        <p:nvSpPr>
          <p:cNvPr id="8" name="Cross bg 1"/>
          <p:cNvSpPr/>
          <p:nvPr/>
        </p:nvSpPr>
        <p:spPr>
          <a:xfrm>
            <a:off x="640080" y="1700784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9" name="Cross icon 1" descr="probl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55648"/>
            <a:ext cx="164592" cy="164592"/>
          </a:xfrm>
          <a:prstGeom prst="rect">
            <a:avLst/>
          </a:prstGeom>
        </p:spPr>
      </p:pic>
      <p:sp>
        <p:nvSpPr>
          <p:cNvPr id="10" name="Existing item 1"/>
          <p:cNvSpPr txBox="1"/>
          <p:nvPr/>
        </p:nvSpPr>
        <p:spPr>
          <a:xfrm>
            <a:off x="1051560" y="1691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Technical data that is hard to interpret</a:t>
            </a:r>
            <a:endParaRPr lang="en-US" sz="1400" dirty="0"/>
          </a:p>
        </p:txBody>
      </p:sp>
      <p:sp>
        <p:nvSpPr>
          <p:cNvPr id="11" name="Tick bg 1"/>
          <p:cNvSpPr/>
          <p:nvPr/>
        </p:nvSpPr>
        <p:spPr>
          <a:xfrm>
            <a:off x="4892040" y="170078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Tick icon 1" descr="solu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755648"/>
            <a:ext cx="164592" cy="164592"/>
          </a:xfrm>
          <a:prstGeom prst="rect">
            <a:avLst/>
          </a:prstGeom>
        </p:spPr>
      </p:pic>
      <p:sp>
        <p:nvSpPr>
          <p:cNvPr id="13" name="EcoGuard item 1"/>
          <p:cNvSpPr txBox="1"/>
          <p:nvPr/>
        </p:nvSpPr>
        <p:spPr>
          <a:xfrm>
            <a:off x="5303520" y="1691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Large AQI gauge with a one-line meaning</a:t>
            </a:r>
            <a:endParaRPr lang="en-US" sz="1400" dirty="0"/>
          </a:p>
        </p:txBody>
      </p:sp>
      <p:pic>
        <p:nvPicPr>
          <p:cNvPr id="14" name="Cross 2" descr="proble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313432"/>
            <a:ext cx="182880" cy="182880"/>
          </a:xfrm>
          <a:prstGeom prst="rect">
            <a:avLst/>
          </a:prstGeom>
        </p:spPr>
      </p:pic>
      <p:sp>
        <p:nvSpPr>
          <p:cNvPr id="15" name="Cross bg 2"/>
          <p:cNvSpPr/>
          <p:nvPr/>
        </p:nvSpPr>
        <p:spPr>
          <a:xfrm>
            <a:off x="640080" y="2267712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Cross icon 2" descr="proble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2322576"/>
            <a:ext cx="164592" cy="164592"/>
          </a:xfrm>
          <a:prstGeom prst="rect">
            <a:avLst/>
          </a:prstGeom>
        </p:spPr>
      </p:pic>
      <p:sp>
        <p:nvSpPr>
          <p:cNvPr id="17" name="Existing item 2"/>
          <p:cNvSpPr txBox="1"/>
          <p:nvPr/>
        </p:nvSpPr>
        <p:spPr>
          <a:xfrm>
            <a:off x="1051560" y="22585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Inconsistent colour coding</a:t>
            </a:r>
            <a:endParaRPr lang="en-US" sz="1400" dirty="0"/>
          </a:p>
        </p:txBody>
      </p:sp>
      <p:sp>
        <p:nvSpPr>
          <p:cNvPr id="18" name="Tick bg 2"/>
          <p:cNvSpPr/>
          <p:nvPr/>
        </p:nvSpPr>
        <p:spPr>
          <a:xfrm>
            <a:off x="4892040" y="226771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Tick icon 2" descr="solu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2322576"/>
            <a:ext cx="164592" cy="164592"/>
          </a:xfrm>
          <a:prstGeom prst="rect">
            <a:avLst/>
          </a:prstGeom>
        </p:spPr>
      </p:pic>
      <p:sp>
        <p:nvSpPr>
          <p:cNvPr id="20" name="EcoGuard item 2"/>
          <p:cNvSpPr txBox="1"/>
          <p:nvPr/>
        </p:nvSpPr>
        <p:spPr>
          <a:xfrm>
            <a:off x="5303520" y="22585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Standard AQI colour scale used everywhere</a:t>
            </a:r>
            <a:endParaRPr lang="en-US" sz="1400" dirty="0"/>
          </a:p>
        </p:txBody>
      </p:sp>
      <p:pic>
        <p:nvPicPr>
          <p:cNvPr id="21" name="Cross 3" descr="problem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880360"/>
            <a:ext cx="182880" cy="182880"/>
          </a:xfrm>
          <a:prstGeom prst="rect">
            <a:avLst/>
          </a:prstGeom>
        </p:spPr>
      </p:pic>
      <p:sp>
        <p:nvSpPr>
          <p:cNvPr id="22" name="Cross bg 3"/>
          <p:cNvSpPr/>
          <p:nvPr/>
        </p:nvSpPr>
        <p:spPr>
          <a:xfrm>
            <a:off x="640080" y="283464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Cross icon 3" descr="problem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" y="2889504"/>
            <a:ext cx="164592" cy="164592"/>
          </a:xfrm>
          <a:prstGeom prst="rect">
            <a:avLst/>
          </a:prstGeom>
        </p:spPr>
      </p:pic>
      <p:sp>
        <p:nvSpPr>
          <p:cNvPr id="24" name="Existing item 3"/>
          <p:cNvSpPr txBox="1"/>
          <p:nvPr/>
        </p:nvSpPr>
        <p:spPr>
          <a:xfrm>
            <a:off x="1051560" y="282549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Generic alerts with no advice</a:t>
            </a:r>
            <a:endParaRPr lang="en-US" sz="1400" dirty="0"/>
          </a:p>
        </p:txBody>
      </p:sp>
      <p:sp>
        <p:nvSpPr>
          <p:cNvPr id="25" name="Tick bg 3"/>
          <p:cNvSpPr/>
          <p:nvPr/>
        </p:nvSpPr>
        <p:spPr>
          <a:xfrm>
            <a:off x="4892040" y="28346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Tick icon 3" descr="soluti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6904" y="2889504"/>
            <a:ext cx="164592" cy="164592"/>
          </a:xfrm>
          <a:prstGeom prst="rect">
            <a:avLst/>
          </a:prstGeom>
        </p:spPr>
      </p:pic>
      <p:sp>
        <p:nvSpPr>
          <p:cNvPr id="27" name="EcoGuard item 3"/>
          <p:cNvSpPr txBox="1"/>
          <p:nvPr/>
        </p:nvSpPr>
        <p:spPr>
          <a:xfrm>
            <a:off x="5303520" y="282549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Actionable alerts and health advice</a:t>
            </a:r>
            <a:endParaRPr lang="en-US" sz="1400" dirty="0"/>
          </a:p>
        </p:txBody>
      </p:sp>
      <p:pic>
        <p:nvPicPr>
          <p:cNvPr id="28" name="Cross 4" descr="problem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447288"/>
            <a:ext cx="182880" cy="182880"/>
          </a:xfrm>
          <a:prstGeom prst="rect">
            <a:avLst/>
          </a:prstGeom>
        </p:spPr>
      </p:pic>
      <p:sp>
        <p:nvSpPr>
          <p:cNvPr id="29" name="Cross bg 4"/>
          <p:cNvSpPr/>
          <p:nvPr/>
        </p:nvSpPr>
        <p:spPr>
          <a:xfrm>
            <a:off x="640080" y="3401568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Cross icon 4" descr="problem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944" y="3456432"/>
            <a:ext cx="164592" cy="164592"/>
          </a:xfrm>
          <a:prstGeom prst="rect">
            <a:avLst/>
          </a:prstGeom>
        </p:spPr>
      </p:pic>
      <p:sp>
        <p:nvSpPr>
          <p:cNvPr id="31" name="Existing item 4"/>
          <p:cNvSpPr txBox="1"/>
          <p:nvPr/>
        </p:nvSpPr>
        <p:spPr>
          <a:xfrm>
            <a:off x="1051560" y="33924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Reporting needs many steps</a:t>
            </a:r>
            <a:endParaRPr lang="en-US" sz="1400" dirty="0"/>
          </a:p>
        </p:txBody>
      </p:sp>
      <p:sp>
        <p:nvSpPr>
          <p:cNvPr id="32" name="Tick bg 4"/>
          <p:cNvSpPr/>
          <p:nvPr/>
        </p:nvSpPr>
        <p:spPr>
          <a:xfrm>
            <a:off x="4892040" y="340156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Tick icon 4" descr="soluti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46904" y="3456432"/>
            <a:ext cx="164592" cy="164592"/>
          </a:xfrm>
          <a:prstGeom prst="rect">
            <a:avLst/>
          </a:prstGeom>
        </p:spPr>
      </p:pic>
      <p:sp>
        <p:nvSpPr>
          <p:cNvPr id="34" name="EcoGuard item 4"/>
          <p:cNvSpPr txBox="1"/>
          <p:nvPr/>
        </p:nvSpPr>
        <p:spPr>
          <a:xfrm>
            <a:off x="5303520" y="33924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Three-step reporting: photo, location, category</a:t>
            </a:r>
            <a:endParaRPr lang="en-US" sz="1400" dirty="0"/>
          </a:p>
        </p:txBody>
      </p:sp>
      <p:pic>
        <p:nvPicPr>
          <p:cNvPr id="35" name="Cross 5" descr="problem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014216"/>
            <a:ext cx="182880" cy="182880"/>
          </a:xfrm>
          <a:prstGeom prst="rect">
            <a:avLst/>
          </a:prstGeom>
        </p:spPr>
      </p:pic>
      <p:sp>
        <p:nvSpPr>
          <p:cNvPr id="36" name="Cross bg 5"/>
          <p:cNvSpPr/>
          <p:nvPr/>
        </p:nvSpPr>
        <p:spPr>
          <a:xfrm>
            <a:off x="640080" y="3968496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7" name="Cross icon 5" descr="problem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4944" y="4023360"/>
            <a:ext cx="164592" cy="164592"/>
          </a:xfrm>
          <a:prstGeom prst="rect">
            <a:avLst/>
          </a:prstGeom>
        </p:spPr>
      </p:pic>
      <p:sp>
        <p:nvSpPr>
          <p:cNvPr id="38" name="Existing item 5"/>
          <p:cNvSpPr txBox="1"/>
          <p:nvPr/>
        </p:nvSpPr>
        <p:spPr>
          <a:xfrm>
            <a:off x="1051560" y="395935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Forced sign-up before viewing data</a:t>
            </a:r>
            <a:endParaRPr lang="en-US" sz="1400" dirty="0"/>
          </a:p>
        </p:txBody>
      </p:sp>
      <p:sp>
        <p:nvSpPr>
          <p:cNvPr id="39" name="Tick bg 5"/>
          <p:cNvSpPr/>
          <p:nvPr/>
        </p:nvSpPr>
        <p:spPr>
          <a:xfrm>
            <a:off x="4892040" y="396849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Tick icon 5" descr="soluti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46904" y="4023360"/>
            <a:ext cx="164592" cy="164592"/>
          </a:xfrm>
          <a:prstGeom prst="rect">
            <a:avLst/>
          </a:prstGeom>
        </p:spPr>
      </p:pic>
      <p:sp>
        <p:nvSpPr>
          <p:cNvPr id="41" name="EcoGuard item 5"/>
          <p:cNvSpPr txBox="1"/>
          <p:nvPr/>
        </p:nvSpPr>
        <p:spPr>
          <a:xfrm>
            <a:off x="5303520" y="395935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Guest access for everyone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Thinking Approach</a:t>
            </a:r>
            <a:endParaRPr lang="en-US" sz="3000" dirty="0"/>
          </a:p>
        </p:txBody>
      </p:sp>
      <p:sp>
        <p:nvSpPr>
          <p:cNvPr id="3" name="Step card 1"/>
          <p:cNvSpPr/>
          <p:nvPr/>
        </p:nvSpPr>
        <p:spPr>
          <a:xfrm>
            <a:off x="457200" y="1325880"/>
            <a:ext cx="1115568" cy="2468880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ep number bg 1"/>
          <p:cNvSpPr/>
          <p:nvPr/>
        </p:nvSpPr>
        <p:spPr>
          <a:xfrm>
            <a:off x="758952" y="150876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758952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tep name 1"/>
          <p:cNvSpPr txBox="1"/>
          <p:nvPr/>
        </p:nvSpPr>
        <p:spPr>
          <a:xfrm>
            <a:off x="502920" y="219456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Empathize</a:t>
            </a:r>
            <a:endParaRPr lang="en-US" sz="1400" dirty="0"/>
          </a:p>
        </p:txBody>
      </p:sp>
      <p:sp>
        <p:nvSpPr>
          <p:cNvPr id="7" name="Step text 1"/>
          <p:cNvSpPr txBox="1"/>
          <p:nvPr/>
        </p:nvSpPr>
        <p:spPr>
          <a:xfrm>
            <a:off x="548640" y="2697480"/>
            <a:ext cx="932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Understand users and pain points</a:t>
            </a:r>
            <a:endParaRPr lang="en-US" sz="1100" dirty="0"/>
          </a:p>
        </p:txBody>
      </p:sp>
      <p:sp>
        <p:nvSpPr>
          <p:cNvPr id="8" name="Step card 2"/>
          <p:cNvSpPr/>
          <p:nvPr/>
        </p:nvSpPr>
        <p:spPr>
          <a:xfrm>
            <a:off x="1642262" y="1325880"/>
            <a:ext cx="1115568" cy="2468880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tep number bg 2"/>
          <p:cNvSpPr/>
          <p:nvPr/>
        </p:nvSpPr>
        <p:spPr>
          <a:xfrm>
            <a:off x="1944014" y="1508760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ep number 2"/>
          <p:cNvSpPr txBox="1"/>
          <p:nvPr/>
        </p:nvSpPr>
        <p:spPr>
          <a:xfrm>
            <a:off x="1944014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tep name 2"/>
          <p:cNvSpPr txBox="1"/>
          <p:nvPr/>
        </p:nvSpPr>
        <p:spPr>
          <a:xfrm>
            <a:off x="1687982" y="219456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Define</a:t>
            </a:r>
            <a:endParaRPr lang="en-US" sz="1400" dirty="0"/>
          </a:p>
        </p:txBody>
      </p:sp>
      <p:sp>
        <p:nvSpPr>
          <p:cNvPr id="12" name="Step text 2"/>
          <p:cNvSpPr txBox="1"/>
          <p:nvPr/>
        </p:nvSpPr>
        <p:spPr>
          <a:xfrm>
            <a:off x="1733702" y="2697480"/>
            <a:ext cx="932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Turn findings into clear problems</a:t>
            </a:r>
            <a:endParaRPr lang="en-US" sz="1100" dirty="0"/>
          </a:p>
        </p:txBody>
      </p:sp>
      <p:sp>
        <p:nvSpPr>
          <p:cNvPr id="13" name="Step card 3"/>
          <p:cNvSpPr/>
          <p:nvPr/>
        </p:nvSpPr>
        <p:spPr>
          <a:xfrm>
            <a:off x="2827325" y="1325880"/>
            <a:ext cx="1115568" cy="2468880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tep number bg 3"/>
          <p:cNvSpPr/>
          <p:nvPr/>
        </p:nvSpPr>
        <p:spPr>
          <a:xfrm>
            <a:off x="3129077" y="150876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tep number 3"/>
          <p:cNvSpPr txBox="1"/>
          <p:nvPr/>
        </p:nvSpPr>
        <p:spPr>
          <a:xfrm>
            <a:off x="3129077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Step name 3"/>
          <p:cNvSpPr txBox="1"/>
          <p:nvPr/>
        </p:nvSpPr>
        <p:spPr>
          <a:xfrm>
            <a:off x="2873045" y="219456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Ideate</a:t>
            </a:r>
            <a:endParaRPr lang="en-US" sz="1400" dirty="0"/>
          </a:p>
        </p:txBody>
      </p:sp>
      <p:sp>
        <p:nvSpPr>
          <p:cNvPr id="17" name="Step text 3"/>
          <p:cNvSpPr txBox="1"/>
          <p:nvPr/>
        </p:nvSpPr>
        <p:spPr>
          <a:xfrm>
            <a:off x="2918765" y="2697480"/>
            <a:ext cx="932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Explore layouts and data displays</a:t>
            </a:r>
            <a:endParaRPr lang="en-US" sz="1100" dirty="0"/>
          </a:p>
        </p:txBody>
      </p:sp>
      <p:sp>
        <p:nvSpPr>
          <p:cNvPr id="18" name="Step card 4"/>
          <p:cNvSpPr/>
          <p:nvPr/>
        </p:nvSpPr>
        <p:spPr>
          <a:xfrm>
            <a:off x="4012387" y="1325880"/>
            <a:ext cx="1115568" cy="2468880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tep number bg 4"/>
          <p:cNvSpPr/>
          <p:nvPr/>
        </p:nvSpPr>
        <p:spPr>
          <a:xfrm>
            <a:off x="4314139" y="1508760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tep number 4"/>
          <p:cNvSpPr txBox="1"/>
          <p:nvPr/>
        </p:nvSpPr>
        <p:spPr>
          <a:xfrm>
            <a:off x="4314139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Step name 4"/>
          <p:cNvSpPr txBox="1"/>
          <p:nvPr/>
        </p:nvSpPr>
        <p:spPr>
          <a:xfrm>
            <a:off x="4058107" y="219456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Wireframe</a:t>
            </a:r>
            <a:endParaRPr lang="en-US" sz="1400" dirty="0"/>
          </a:p>
        </p:txBody>
      </p:sp>
      <p:sp>
        <p:nvSpPr>
          <p:cNvPr id="22" name="Step text 4"/>
          <p:cNvSpPr txBox="1"/>
          <p:nvPr/>
        </p:nvSpPr>
        <p:spPr>
          <a:xfrm>
            <a:off x="4103827" y="2697480"/>
            <a:ext cx="932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Plan structure and hierarchy</a:t>
            </a:r>
            <a:endParaRPr lang="en-US" sz="1100" dirty="0"/>
          </a:p>
        </p:txBody>
      </p:sp>
      <p:sp>
        <p:nvSpPr>
          <p:cNvPr id="23" name="Step card 5"/>
          <p:cNvSpPr/>
          <p:nvPr/>
        </p:nvSpPr>
        <p:spPr>
          <a:xfrm>
            <a:off x="5197450" y="1325880"/>
            <a:ext cx="1115568" cy="2468880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tep number bg 5"/>
          <p:cNvSpPr/>
          <p:nvPr/>
        </p:nvSpPr>
        <p:spPr>
          <a:xfrm>
            <a:off x="5499202" y="150876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tep number 5"/>
          <p:cNvSpPr txBox="1"/>
          <p:nvPr/>
        </p:nvSpPr>
        <p:spPr>
          <a:xfrm>
            <a:off x="5499202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Step name 5"/>
          <p:cNvSpPr txBox="1"/>
          <p:nvPr/>
        </p:nvSpPr>
        <p:spPr>
          <a:xfrm>
            <a:off x="5243170" y="219456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Visual Design</a:t>
            </a:r>
            <a:endParaRPr lang="en-US" sz="1400" dirty="0"/>
          </a:p>
        </p:txBody>
      </p:sp>
      <p:sp>
        <p:nvSpPr>
          <p:cNvPr id="27" name="Step text 5"/>
          <p:cNvSpPr txBox="1"/>
          <p:nvPr/>
        </p:nvSpPr>
        <p:spPr>
          <a:xfrm>
            <a:off x="5288890" y="2697480"/>
            <a:ext cx="932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Colours, type, icons, spacing</a:t>
            </a:r>
            <a:endParaRPr lang="en-US" sz="1100" dirty="0"/>
          </a:p>
        </p:txBody>
      </p:sp>
      <p:sp>
        <p:nvSpPr>
          <p:cNvPr id="28" name="Step card 6"/>
          <p:cNvSpPr/>
          <p:nvPr/>
        </p:nvSpPr>
        <p:spPr>
          <a:xfrm>
            <a:off x="6382512" y="1325880"/>
            <a:ext cx="1115568" cy="2468880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tep number bg 6"/>
          <p:cNvSpPr/>
          <p:nvPr/>
        </p:nvSpPr>
        <p:spPr>
          <a:xfrm>
            <a:off x="6684264" y="1508760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Step number 6"/>
          <p:cNvSpPr txBox="1"/>
          <p:nvPr/>
        </p:nvSpPr>
        <p:spPr>
          <a:xfrm>
            <a:off x="6684264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Step name 6"/>
          <p:cNvSpPr txBox="1"/>
          <p:nvPr/>
        </p:nvSpPr>
        <p:spPr>
          <a:xfrm>
            <a:off x="6428232" y="219456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Prototype</a:t>
            </a:r>
            <a:endParaRPr lang="en-US" sz="1400" dirty="0"/>
          </a:p>
        </p:txBody>
      </p:sp>
      <p:sp>
        <p:nvSpPr>
          <p:cNvPr id="32" name="Step text 6"/>
          <p:cNvSpPr txBox="1"/>
          <p:nvPr/>
        </p:nvSpPr>
        <p:spPr>
          <a:xfrm>
            <a:off x="6473952" y="2697480"/>
            <a:ext cx="932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Connect screens into a journey</a:t>
            </a:r>
            <a:endParaRPr lang="en-US" sz="1100" dirty="0"/>
          </a:p>
        </p:txBody>
      </p:sp>
      <p:sp>
        <p:nvSpPr>
          <p:cNvPr id="33" name="Step card 7"/>
          <p:cNvSpPr/>
          <p:nvPr/>
        </p:nvSpPr>
        <p:spPr>
          <a:xfrm>
            <a:off x="7567574" y="1325880"/>
            <a:ext cx="1115568" cy="2468880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tep number bg 7"/>
          <p:cNvSpPr/>
          <p:nvPr/>
        </p:nvSpPr>
        <p:spPr>
          <a:xfrm>
            <a:off x="7869326" y="150876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Step number 7"/>
          <p:cNvSpPr txBox="1"/>
          <p:nvPr/>
        </p:nvSpPr>
        <p:spPr>
          <a:xfrm>
            <a:off x="7869326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36" name="Step name 7"/>
          <p:cNvSpPr txBox="1"/>
          <p:nvPr/>
        </p:nvSpPr>
        <p:spPr>
          <a:xfrm>
            <a:off x="7613294" y="219456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</a:t>
            </a:r>
            <a:endParaRPr lang="en-US" sz="1400" dirty="0"/>
          </a:p>
        </p:txBody>
      </p:sp>
      <p:sp>
        <p:nvSpPr>
          <p:cNvPr id="37" name="Step text 7"/>
          <p:cNvSpPr txBox="1"/>
          <p:nvPr/>
        </p:nvSpPr>
        <p:spPr>
          <a:xfrm>
            <a:off x="7659014" y="2697480"/>
            <a:ext cx="932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Check usability and consistency</a:t>
            </a:r>
            <a:endParaRPr lang="en-US" sz="1100" dirty="0"/>
          </a:p>
        </p:txBody>
      </p:sp>
      <p:sp>
        <p:nvSpPr>
          <p:cNvPr id="38" name="Process note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User research and competitor analysis fed every stage, from personas to final testing.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Research and Personas</a:t>
            </a:r>
            <a:endParaRPr lang="en-US" sz="3000" dirty="0"/>
          </a:p>
        </p:txBody>
      </p:sp>
      <p:sp>
        <p:nvSpPr>
          <p:cNvPr id="3" name="Research card"/>
          <p:cNvSpPr/>
          <p:nvPr/>
        </p:nvSpPr>
        <p:spPr>
          <a:xfrm>
            <a:off x="457200" y="1143000"/>
            <a:ext cx="3749040" cy="3429000"/>
          </a:xfrm>
          <a:prstGeom prst="roundRect">
            <a:avLst>
              <a:gd name="adj" fmla="val 2133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Methods label"/>
          <p:cNvSpPr txBox="1"/>
          <p:nvPr/>
        </p:nvSpPr>
        <p:spPr>
          <a:xfrm>
            <a:off x="685800" y="1280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RESEARCH METHODS</a:t>
            </a:r>
            <a:endParaRPr lang="en-US" sz="1200" dirty="0"/>
          </a:p>
        </p:txBody>
      </p:sp>
      <p:sp>
        <p:nvSpPr>
          <p:cNvPr id="5" name="Methods text"/>
          <p:cNvSpPr txBox="1"/>
          <p:nvPr/>
        </p:nvSpPr>
        <p:spPr>
          <a:xfrm>
            <a:off x="685800" y="15727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Interviews · Surveys · Competitor analysis · Observation of existing apps</a:t>
            </a:r>
            <a:endParaRPr lang="en-US" sz="1300" dirty="0"/>
          </a:p>
        </p:txBody>
      </p:sp>
      <p:sp>
        <p:nvSpPr>
          <p:cNvPr id="6" name="Findings label"/>
          <p:cNvSpPr txBox="1"/>
          <p:nvPr/>
        </p:nvSpPr>
        <p:spPr>
          <a:xfrm>
            <a:off x="685800" y="2286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WHAT WE LEARNED</a:t>
            </a:r>
            <a:endParaRPr lang="en-US" sz="1200" dirty="0"/>
          </a:p>
        </p:txBody>
      </p:sp>
      <p:sp>
        <p:nvSpPr>
          <p:cNvPr id="7" name="Findings list"/>
          <p:cNvSpPr txBox="1"/>
          <p:nvPr/>
        </p:nvSpPr>
        <p:spPr>
          <a:xfrm>
            <a:off x="685800" y="2578608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Understand air quality at a glance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Know what to do when it is poor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Report smoke or dust quickly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Operators need an uncluttered view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forced sign-up before viewing</a:t>
            </a:r>
            <a:endParaRPr lang="en-US" sz="1300" dirty="0"/>
          </a:p>
        </p:txBody>
      </p:sp>
      <p:sp>
        <p:nvSpPr>
          <p:cNvPr id="8" name="Persona card 1"/>
          <p:cNvSpPr/>
          <p:nvPr/>
        </p:nvSpPr>
        <p:spPr>
          <a:xfrm>
            <a:off x="4480560" y="1143000"/>
            <a:ext cx="42062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persona 1 bg"/>
          <p:cNvSpPr/>
          <p:nvPr/>
        </p:nvSpPr>
        <p:spPr>
          <a:xfrm>
            <a:off x="4663440" y="1325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 persona 1" descr="Icon persona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9861" y="1492301"/>
            <a:ext cx="307238" cy="307238"/>
          </a:xfrm>
          <a:prstGeom prst="rect">
            <a:avLst/>
          </a:prstGeom>
        </p:spPr>
      </p:pic>
      <p:sp>
        <p:nvSpPr>
          <p:cNvPr id="11" name="Persona name 1"/>
          <p:cNvSpPr txBox="1"/>
          <p:nvPr/>
        </p:nvSpPr>
        <p:spPr>
          <a:xfrm>
            <a:off x="5486400" y="1280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Divya Ramesh, 22</a:t>
            </a:r>
            <a:endParaRPr lang="en-US" sz="1500" dirty="0"/>
          </a:p>
        </p:txBody>
      </p:sp>
      <p:sp>
        <p:nvSpPr>
          <p:cNvPr id="12" name="Persona role 1"/>
          <p:cNvSpPr txBox="1"/>
          <p:nvPr/>
        </p:nvSpPr>
        <p:spPr>
          <a:xfrm>
            <a:off x="5486400" y="1554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Citizen · College Student</a:t>
            </a:r>
            <a:endParaRPr lang="en-US" sz="1200" dirty="0"/>
          </a:p>
        </p:txBody>
      </p:sp>
      <p:sp>
        <p:nvSpPr>
          <p:cNvPr id="13" name="Persona details 1"/>
          <p:cNvSpPr txBox="1"/>
          <p:nvPr/>
        </p:nvSpPr>
        <p:spPr>
          <a:xfrm>
            <a:off x="4663440" y="20116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Goals: check air quality before going out, get health advice, report pollution.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Pain points: confusing numbers, generic alerts, long forms.</a:t>
            </a:r>
            <a:endParaRPr lang="en-US" sz="1100" dirty="0"/>
          </a:p>
        </p:txBody>
      </p:sp>
      <p:sp>
        <p:nvSpPr>
          <p:cNvPr id="14" name="Persona card 2"/>
          <p:cNvSpPr/>
          <p:nvPr/>
        </p:nvSpPr>
        <p:spPr>
          <a:xfrm>
            <a:off x="4480560" y="2880360"/>
            <a:ext cx="42062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Icon persona 2 bg"/>
          <p:cNvSpPr/>
          <p:nvPr/>
        </p:nvSpPr>
        <p:spPr>
          <a:xfrm>
            <a:off x="4663440" y="30632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on persona 2" descr="Icon persona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861" y="3229661"/>
            <a:ext cx="307238" cy="307238"/>
          </a:xfrm>
          <a:prstGeom prst="rect">
            <a:avLst/>
          </a:prstGeom>
        </p:spPr>
      </p:pic>
      <p:sp>
        <p:nvSpPr>
          <p:cNvPr id="17" name="Persona name 2"/>
          <p:cNvSpPr txBox="1"/>
          <p:nvPr/>
        </p:nvSpPr>
        <p:spPr>
          <a:xfrm>
            <a:off x="5486400" y="3017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Suresh Kumar, 38</a:t>
            </a:r>
            <a:endParaRPr lang="en-US" sz="1500" dirty="0"/>
          </a:p>
        </p:txBody>
      </p:sp>
      <p:sp>
        <p:nvSpPr>
          <p:cNvPr id="18" name="Persona role 2"/>
          <p:cNvSpPr txBox="1"/>
          <p:nvPr/>
        </p:nvSpPr>
        <p:spPr>
          <a:xfrm>
            <a:off x="5486400" y="32918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Operator · Control-Room</a:t>
            </a:r>
            <a:endParaRPr lang="en-US" sz="1200" dirty="0"/>
          </a:p>
        </p:txBody>
      </p:sp>
      <p:sp>
        <p:nvSpPr>
          <p:cNvPr id="19" name="Persona details 2"/>
          <p:cNvSpPr txBox="1"/>
          <p:nvPr/>
        </p:nvSpPr>
        <p:spPr>
          <a:xfrm>
            <a:off x="4663440" y="37490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Goals: monitor sensors and respond quickly when limits are crossed.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Pain points: crowded dashboards, delayed alerts.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Flow of the Application</a:t>
            </a:r>
            <a:endParaRPr lang="en-US" sz="3000" dirty="0"/>
          </a:p>
        </p:txBody>
      </p:sp>
      <p:sp>
        <p:nvSpPr>
          <p:cNvPr id="3" name="Flow box 1"/>
          <p:cNvSpPr/>
          <p:nvPr/>
        </p:nvSpPr>
        <p:spPr>
          <a:xfrm>
            <a:off x="457200" y="1325880"/>
            <a:ext cx="182880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Flow number 1"/>
          <p:cNvSpPr txBox="1"/>
          <p:nvPr/>
        </p:nvSpPr>
        <p:spPr>
          <a:xfrm>
            <a:off x="566928" y="1417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Flow title 1"/>
          <p:cNvSpPr txBox="1"/>
          <p:nvPr/>
        </p:nvSpPr>
        <p:spPr>
          <a:xfrm>
            <a:off x="566928" y="16916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Splash Screen</a:t>
            </a:r>
            <a:endParaRPr lang="en-US" sz="1500" dirty="0"/>
          </a:p>
        </p:txBody>
      </p:sp>
      <p:sp>
        <p:nvSpPr>
          <p:cNvPr id="6" name="Flow text 1"/>
          <p:cNvSpPr txBox="1"/>
          <p:nvPr/>
        </p:nvSpPr>
        <p:spPr>
          <a:xfrm>
            <a:off x="566928" y="202996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Brand and tagline</a:t>
            </a:r>
            <a:endParaRPr lang="en-US" sz="1100" dirty="0"/>
          </a:p>
        </p:txBody>
      </p:sp>
      <p:sp>
        <p:nvSpPr>
          <p:cNvPr id="7" name="Flow arrow 1"/>
          <p:cNvSpPr/>
          <p:nvPr/>
        </p:nvSpPr>
        <p:spPr>
          <a:xfrm>
            <a:off x="2322576" y="1778508"/>
            <a:ext cx="228600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Flow box 2"/>
          <p:cNvSpPr/>
          <p:nvPr/>
        </p:nvSpPr>
        <p:spPr>
          <a:xfrm>
            <a:off x="2590495" y="1325880"/>
            <a:ext cx="182880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Flow number 2"/>
          <p:cNvSpPr txBox="1"/>
          <p:nvPr/>
        </p:nvSpPr>
        <p:spPr>
          <a:xfrm>
            <a:off x="2700223" y="1417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Flow title 2"/>
          <p:cNvSpPr txBox="1"/>
          <p:nvPr/>
        </p:nvSpPr>
        <p:spPr>
          <a:xfrm>
            <a:off x="2700223" y="16916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Login / Sign Up</a:t>
            </a:r>
            <a:endParaRPr lang="en-US" sz="1500" dirty="0"/>
          </a:p>
        </p:txBody>
      </p:sp>
      <p:sp>
        <p:nvSpPr>
          <p:cNvPr id="11" name="Flow text 2"/>
          <p:cNvSpPr txBox="1"/>
          <p:nvPr/>
        </p:nvSpPr>
        <p:spPr>
          <a:xfrm>
            <a:off x="2700223" y="202996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Or continue as guest</a:t>
            </a:r>
            <a:endParaRPr lang="en-US" sz="1100" dirty="0"/>
          </a:p>
        </p:txBody>
      </p:sp>
      <p:sp>
        <p:nvSpPr>
          <p:cNvPr id="12" name="Flow arrow 2"/>
          <p:cNvSpPr/>
          <p:nvPr/>
        </p:nvSpPr>
        <p:spPr>
          <a:xfrm>
            <a:off x="4455871" y="1778508"/>
            <a:ext cx="228600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Flow box 3"/>
          <p:cNvSpPr/>
          <p:nvPr/>
        </p:nvSpPr>
        <p:spPr>
          <a:xfrm>
            <a:off x="4723790" y="1325880"/>
            <a:ext cx="1828800" cy="114300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Flow number 3"/>
          <p:cNvSpPr txBox="1"/>
          <p:nvPr/>
        </p:nvSpPr>
        <p:spPr>
          <a:xfrm>
            <a:off x="4833518" y="1417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DE7E0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Flow title 3"/>
          <p:cNvSpPr txBox="1"/>
          <p:nvPr/>
        </p:nvSpPr>
        <p:spPr>
          <a:xfrm>
            <a:off x="4833518" y="16916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Home Dashboard</a:t>
            </a:r>
            <a:endParaRPr lang="en-US" sz="1500" dirty="0"/>
          </a:p>
        </p:txBody>
      </p:sp>
      <p:sp>
        <p:nvSpPr>
          <p:cNvPr id="16" name="Flow text 3"/>
          <p:cNvSpPr txBox="1"/>
          <p:nvPr/>
        </p:nvSpPr>
        <p:spPr>
          <a:xfrm>
            <a:off x="4833518" y="202996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F3EE"/>
                </a:solidFill>
              </a:rPr>
              <a:t>Live AQI gauge</a:t>
            </a:r>
            <a:endParaRPr lang="en-US" sz="1100" dirty="0"/>
          </a:p>
        </p:txBody>
      </p:sp>
      <p:sp>
        <p:nvSpPr>
          <p:cNvPr id="17" name="Flow arrow 3"/>
          <p:cNvSpPr/>
          <p:nvPr/>
        </p:nvSpPr>
        <p:spPr>
          <a:xfrm>
            <a:off x="6589166" y="1778508"/>
            <a:ext cx="228600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Flow box 4"/>
          <p:cNvSpPr/>
          <p:nvPr/>
        </p:nvSpPr>
        <p:spPr>
          <a:xfrm>
            <a:off x="6857086" y="1325880"/>
            <a:ext cx="182880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Flow number 4"/>
          <p:cNvSpPr txBox="1"/>
          <p:nvPr/>
        </p:nvSpPr>
        <p:spPr>
          <a:xfrm>
            <a:off x="6966814" y="1417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Flow title 4"/>
          <p:cNvSpPr txBox="1"/>
          <p:nvPr/>
        </p:nvSpPr>
        <p:spPr>
          <a:xfrm>
            <a:off x="6966814" y="16916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Explore</a:t>
            </a:r>
            <a:endParaRPr lang="en-US" sz="1500" dirty="0"/>
          </a:p>
        </p:txBody>
      </p:sp>
      <p:sp>
        <p:nvSpPr>
          <p:cNvPr id="21" name="Flow text 4"/>
          <p:cNvSpPr txBox="1"/>
          <p:nvPr/>
        </p:nvSpPr>
        <p:spPr>
          <a:xfrm>
            <a:off x="6966814" y="202996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Pollutants, map, advice</a:t>
            </a:r>
            <a:endParaRPr lang="en-US" sz="1100" dirty="0"/>
          </a:p>
        </p:txBody>
      </p:sp>
      <p:sp>
        <p:nvSpPr>
          <p:cNvPr id="22" name="Flow box 5"/>
          <p:cNvSpPr/>
          <p:nvPr/>
        </p:nvSpPr>
        <p:spPr>
          <a:xfrm>
            <a:off x="457200" y="3063240"/>
            <a:ext cx="182880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Flow number 5"/>
          <p:cNvSpPr txBox="1"/>
          <p:nvPr/>
        </p:nvSpPr>
        <p:spPr>
          <a:xfrm>
            <a:off x="566928" y="3154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Flow title 5"/>
          <p:cNvSpPr txBox="1"/>
          <p:nvPr/>
        </p:nvSpPr>
        <p:spPr>
          <a:xfrm>
            <a:off x="566928" y="342900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Alert</a:t>
            </a:r>
            <a:endParaRPr lang="en-US" sz="1500" dirty="0"/>
          </a:p>
        </p:txBody>
      </p:sp>
      <p:sp>
        <p:nvSpPr>
          <p:cNvPr id="25" name="Flow text 5"/>
          <p:cNvSpPr txBox="1"/>
          <p:nvPr/>
        </p:nvSpPr>
        <p:spPr>
          <a:xfrm>
            <a:off x="566928" y="376732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When a limit is crossed</a:t>
            </a:r>
            <a:endParaRPr lang="en-US" sz="1100" dirty="0"/>
          </a:p>
        </p:txBody>
      </p:sp>
      <p:sp>
        <p:nvSpPr>
          <p:cNvPr id="26" name="Flow arrow 5"/>
          <p:cNvSpPr/>
          <p:nvPr/>
        </p:nvSpPr>
        <p:spPr>
          <a:xfrm>
            <a:off x="2322576" y="3515868"/>
            <a:ext cx="228600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Flow box 6"/>
          <p:cNvSpPr/>
          <p:nvPr/>
        </p:nvSpPr>
        <p:spPr>
          <a:xfrm>
            <a:off x="2590495" y="3063240"/>
            <a:ext cx="182880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Flow number 6"/>
          <p:cNvSpPr txBox="1"/>
          <p:nvPr/>
        </p:nvSpPr>
        <p:spPr>
          <a:xfrm>
            <a:off x="2700223" y="3154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Flow title 6"/>
          <p:cNvSpPr txBox="1"/>
          <p:nvPr/>
        </p:nvSpPr>
        <p:spPr>
          <a:xfrm>
            <a:off x="2700223" y="342900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Report Pollution</a:t>
            </a:r>
            <a:endParaRPr lang="en-US" sz="1500" dirty="0"/>
          </a:p>
        </p:txBody>
      </p:sp>
      <p:sp>
        <p:nvSpPr>
          <p:cNvPr id="30" name="Flow text 6"/>
          <p:cNvSpPr txBox="1"/>
          <p:nvPr/>
        </p:nvSpPr>
        <p:spPr>
          <a:xfrm>
            <a:off x="2700223" y="376732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Photo → location → category</a:t>
            </a:r>
            <a:endParaRPr lang="en-US" sz="1100" dirty="0"/>
          </a:p>
        </p:txBody>
      </p:sp>
      <p:sp>
        <p:nvSpPr>
          <p:cNvPr id="31" name="Flow arrow 6"/>
          <p:cNvSpPr/>
          <p:nvPr/>
        </p:nvSpPr>
        <p:spPr>
          <a:xfrm>
            <a:off x="4455871" y="3515868"/>
            <a:ext cx="228600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Flow box 7"/>
          <p:cNvSpPr/>
          <p:nvPr/>
        </p:nvSpPr>
        <p:spPr>
          <a:xfrm>
            <a:off x="4723790" y="3063240"/>
            <a:ext cx="1828800" cy="114300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Flow number 7"/>
          <p:cNvSpPr txBox="1"/>
          <p:nvPr/>
        </p:nvSpPr>
        <p:spPr>
          <a:xfrm>
            <a:off x="4833518" y="3154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DE7E0"/>
                </a:solidFill>
              </a:rPr>
              <a:t>7</a:t>
            </a:r>
            <a:endParaRPr lang="en-US" sz="1200" dirty="0"/>
          </a:p>
        </p:txBody>
      </p:sp>
      <p:sp>
        <p:nvSpPr>
          <p:cNvPr id="34" name="Flow title 7"/>
          <p:cNvSpPr txBox="1"/>
          <p:nvPr/>
        </p:nvSpPr>
        <p:spPr>
          <a:xfrm>
            <a:off x="4833518" y="342900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Control Panel</a:t>
            </a:r>
            <a:endParaRPr lang="en-US" sz="1500" dirty="0"/>
          </a:p>
        </p:txBody>
      </p:sp>
      <p:sp>
        <p:nvSpPr>
          <p:cNvPr id="35" name="Flow text 7"/>
          <p:cNvSpPr txBox="1"/>
          <p:nvPr/>
        </p:nvSpPr>
        <p:spPr>
          <a:xfrm>
            <a:off x="4833518" y="376732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F3EE"/>
                </a:solidFill>
              </a:rPr>
              <a:t>Operator takes action</a:t>
            </a:r>
            <a:endParaRPr lang="en-US" sz="1100" dirty="0"/>
          </a:p>
        </p:txBody>
      </p:sp>
      <p:sp>
        <p:nvSpPr>
          <p:cNvPr id="36" name="Flow arrow 7"/>
          <p:cNvSpPr/>
          <p:nvPr/>
        </p:nvSpPr>
        <p:spPr>
          <a:xfrm>
            <a:off x="6589166" y="3515868"/>
            <a:ext cx="228600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Flow box 8"/>
          <p:cNvSpPr/>
          <p:nvPr/>
        </p:nvSpPr>
        <p:spPr>
          <a:xfrm>
            <a:off x="6857086" y="3063240"/>
            <a:ext cx="182880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Flow number 8"/>
          <p:cNvSpPr txBox="1"/>
          <p:nvPr/>
        </p:nvSpPr>
        <p:spPr>
          <a:xfrm>
            <a:off x="6966814" y="3154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</a:t>
            </a:r>
            <a:endParaRPr lang="en-US" sz="1200" dirty="0"/>
          </a:p>
        </p:txBody>
      </p:sp>
      <p:sp>
        <p:nvSpPr>
          <p:cNvPr id="39" name="Flow title 8"/>
          <p:cNvSpPr txBox="1"/>
          <p:nvPr/>
        </p:nvSpPr>
        <p:spPr>
          <a:xfrm>
            <a:off x="6966814" y="342900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Track Status</a:t>
            </a:r>
            <a:endParaRPr lang="en-US" sz="1500" dirty="0"/>
          </a:p>
        </p:txBody>
      </p:sp>
      <p:sp>
        <p:nvSpPr>
          <p:cNvPr id="40" name="Flow text 8"/>
          <p:cNvSpPr txBox="1"/>
          <p:nvPr/>
        </p:nvSpPr>
        <p:spPr>
          <a:xfrm>
            <a:off x="6966814" y="376732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Resolved and feedback</a:t>
            </a:r>
            <a:endParaRPr lang="en-US" sz="1100" dirty="0"/>
          </a:p>
        </p:txBody>
      </p:sp>
      <p:sp>
        <p:nvSpPr>
          <p:cNvPr id="41" name="Flow arrow row change"/>
          <p:cNvSpPr/>
          <p:nvPr/>
        </p:nvSpPr>
        <p:spPr>
          <a:xfrm>
            <a:off x="8229600" y="2514600"/>
            <a:ext cx="365760" cy="45720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2" name="Flow note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The flow keeps navigation predictable and reduces user effort.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EcoGuard Design System</a:t>
            </a:r>
            <a:endParaRPr lang="en-US" sz="3000" dirty="0"/>
          </a:p>
        </p:txBody>
      </p:sp>
      <p:sp>
        <p:nvSpPr>
          <p:cNvPr id="3" name="Palette card"/>
          <p:cNvSpPr/>
          <p:nvPr/>
        </p:nvSpPr>
        <p:spPr>
          <a:xfrm>
            <a:off x="457200" y="114300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Palette label"/>
          <p:cNvSpPr txBox="1"/>
          <p:nvPr/>
        </p:nvSpPr>
        <p:spPr>
          <a:xfrm>
            <a:off x="685800" y="1280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COLOUR PALETTE</a:t>
            </a:r>
            <a:endParaRPr lang="en-US" sz="1200" dirty="0"/>
          </a:p>
        </p:txBody>
      </p:sp>
      <p:sp>
        <p:nvSpPr>
          <p:cNvPr id="5" name="Swatch Deep Green"/>
          <p:cNvSpPr/>
          <p:nvPr/>
        </p:nvSpPr>
        <p:spPr>
          <a:xfrm>
            <a:off x="685800" y="16459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0B4D44"/>
          </a:solidFill>
          <a:ln w="9525">
            <a:solidFill>
              <a:srgbClr val="C9D8D2"/>
            </a:solidFill>
            <a:prstDash val="solid"/>
          </a:ln>
        </p:spPr>
      </p:sp>
      <p:sp>
        <p:nvSpPr>
          <p:cNvPr id="6" name="Swatch label Deep Green"/>
          <p:cNvSpPr txBox="1"/>
          <p:nvPr/>
        </p:nvSpPr>
        <p:spPr>
          <a:xfrm>
            <a:off x="640080" y="2468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Deep Green</a:t>
            </a:r>
            <a:endParaRPr lang="en-US" sz="1000" dirty="0"/>
          </a:p>
        </p:txBody>
      </p:sp>
      <p:sp>
        <p:nvSpPr>
          <p:cNvPr id="7" name="Swatch Teal"/>
          <p:cNvSpPr/>
          <p:nvPr/>
        </p:nvSpPr>
        <p:spPr>
          <a:xfrm>
            <a:off x="1600200" y="16459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0E7C66"/>
          </a:solidFill>
          <a:ln w="9525">
            <a:solidFill>
              <a:srgbClr val="C9D8D2"/>
            </a:solidFill>
            <a:prstDash val="solid"/>
          </a:ln>
        </p:spPr>
      </p:sp>
      <p:sp>
        <p:nvSpPr>
          <p:cNvPr id="8" name="Swatch label Teal"/>
          <p:cNvSpPr txBox="1"/>
          <p:nvPr/>
        </p:nvSpPr>
        <p:spPr>
          <a:xfrm>
            <a:off x="1554480" y="2468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Teal</a:t>
            </a:r>
            <a:endParaRPr lang="en-US" sz="1000" dirty="0"/>
          </a:p>
        </p:txBody>
      </p:sp>
      <p:sp>
        <p:nvSpPr>
          <p:cNvPr id="9" name="Swatch Soft White"/>
          <p:cNvSpPr/>
          <p:nvPr/>
        </p:nvSpPr>
        <p:spPr>
          <a:xfrm>
            <a:off x="2514600" y="16459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F1F7F5"/>
          </a:solidFill>
          <a:ln w="9525">
            <a:solidFill>
              <a:srgbClr val="C9D8D2"/>
            </a:solidFill>
            <a:prstDash val="solid"/>
          </a:ln>
        </p:spPr>
      </p:sp>
      <p:sp>
        <p:nvSpPr>
          <p:cNvPr id="10" name="Swatch label Soft White"/>
          <p:cNvSpPr txBox="1"/>
          <p:nvPr/>
        </p:nvSpPr>
        <p:spPr>
          <a:xfrm>
            <a:off x="2468880" y="2468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Soft White</a:t>
            </a:r>
            <a:endParaRPr lang="en-US" sz="1000" dirty="0"/>
          </a:p>
        </p:txBody>
      </p:sp>
      <p:sp>
        <p:nvSpPr>
          <p:cNvPr id="11" name="Swatch Dark Grey"/>
          <p:cNvSpPr/>
          <p:nvPr/>
        </p:nvSpPr>
        <p:spPr>
          <a:xfrm>
            <a:off x="3429000" y="16459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374151"/>
          </a:solidFill>
          <a:ln w="9525">
            <a:solidFill>
              <a:srgbClr val="C9D8D2"/>
            </a:solidFill>
            <a:prstDash val="solid"/>
          </a:ln>
        </p:spPr>
      </p:sp>
      <p:sp>
        <p:nvSpPr>
          <p:cNvPr id="12" name="Swatch label Dark Grey"/>
          <p:cNvSpPr txBox="1"/>
          <p:nvPr/>
        </p:nvSpPr>
        <p:spPr>
          <a:xfrm>
            <a:off x="3383280" y="2468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Dark Grey</a:t>
            </a:r>
            <a:endParaRPr lang="en-US" sz="1000" dirty="0"/>
          </a:p>
        </p:txBody>
      </p:sp>
      <p:sp>
        <p:nvSpPr>
          <p:cNvPr id="13" name="AQI label"/>
          <p:cNvSpPr txBox="1"/>
          <p:nvPr/>
        </p:nvSpPr>
        <p:spPr>
          <a:xfrm>
            <a:off x="685800" y="3017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AQI SCALE</a:t>
            </a:r>
            <a:endParaRPr lang="en-US" sz="1200" dirty="0"/>
          </a:p>
        </p:txBody>
      </p:sp>
      <p:sp>
        <p:nvSpPr>
          <p:cNvPr id="14" name="AQI Good"/>
          <p:cNvSpPr/>
          <p:nvPr/>
        </p:nvSpPr>
        <p:spPr>
          <a:xfrm>
            <a:off x="685800" y="3337560"/>
            <a:ext cx="603504" cy="3657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AQI label Good"/>
          <p:cNvSpPr txBox="1"/>
          <p:nvPr/>
        </p:nvSpPr>
        <p:spPr>
          <a:xfrm>
            <a:off x="649224" y="374904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Good</a:t>
            </a:r>
            <a:endParaRPr lang="en-US" sz="1000" dirty="0"/>
          </a:p>
        </p:txBody>
      </p:sp>
      <p:sp>
        <p:nvSpPr>
          <p:cNvPr id="16" name="AQI Satisf."/>
          <p:cNvSpPr/>
          <p:nvPr/>
        </p:nvSpPr>
        <p:spPr>
          <a:xfrm>
            <a:off x="1289304" y="3337560"/>
            <a:ext cx="603504" cy="365760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17" name="AQI label Satisf."/>
          <p:cNvSpPr txBox="1"/>
          <p:nvPr/>
        </p:nvSpPr>
        <p:spPr>
          <a:xfrm>
            <a:off x="1252728" y="374904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Satisf.</a:t>
            </a:r>
            <a:endParaRPr lang="en-US" sz="1000" dirty="0"/>
          </a:p>
        </p:txBody>
      </p:sp>
      <p:sp>
        <p:nvSpPr>
          <p:cNvPr id="18" name="AQI Moderate"/>
          <p:cNvSpPr/>
          <p:nvPr/>
        </p:nvSpPr>
        <p:spPr>
          <a:xfrm>
            <a:off x="1892808" y="3337560"/>
            <a:ext cx="603504" cy="36576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9" name="AQI label Moderate"/>
          <p:cNvSpPr txBox="1"/>
          <p:nvPr/>
        </p:nvSpPr>
        <p:spPr>
          <a:xfrm>
            <a:off x="1856232" y="374904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Moderate</a:t>
            </a:r>
            <a:endParaRPr lang="en-US" sz="1000" dirty="0"/>
          </a:p>
        </p:txBody>
      </p:sp>
      <p:sp>
        <p:nvSpPr>
          <p:cNvPr id="20" name="AQI Poor"/>
          <p:cNvSpPr/>
          <p:nvPr/>
        </p:nvSpPr>
        <p:spPr>
          <a:xfrm>
            <a:off x="2496312" y="3337560"/>
            <a:ext cx="603504" cy="36576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1" name="AQI label Poor"/>
          <p:cNvSpPr txBox="1"/>
          <p:nvPr/>
        </p:nvSpPr>
        <p:spPr>
          <a:xfrm>
            <a:off x="2459736" y="374904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Poor</a:t>
            </a:r>
            <a:endParaRPr lang="en-US" sz="1000" dirty="0"/>
          </a:p>
        </p:txBody>
      </p:sp>
      <p:sp>
        <p:nvSpPr>
          <p:cNvPr id="22" name="AQI V. Poor"/>
          <p:cNvSpPr/>
          <p:nvPr/>
        </p:nvSpPr>
        <p:spPr>
          <a:xfrm>
            <a:off x="3099816" y="3337560"/>
            <a:ext cx="603504" cy="3657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3" name="AQI label V. Poor"/>
          <p:cNvSpPr txBox="1"/>
          <p:nvPr/>
        </p:nvSpPr>
        <p:spPr>
          <a:xfrm>
            <a:off x="3063240" y="374904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V. Poor</a:t>
            </a:r>
            <a:endParaRPr lang="en-US" sz="1000" dirty="0"/>
          </a:p>
        </p:txBody>
      </p:sp>
      <p:sp>
        <p:nvSpPr>
          <p:cNvPr id="24" name="AQI Severe"/>
          <p:cNvSpPr/>
          <p:nvPr/>
        </p:nvSpPr>
        <p:spPr>
          <a:xfrm>
            <a:off x="3703320" y="3337560"/>
            <a:ext cx="603504" cy="365760"/>
          </a:xfrm>
          <a:prstGeom prst="rect">
            <a:avLst/>
          </a:prstGeom>
          <a:solidFill>
            <a:srgbClr val="7B1E3A"/>
          </a:solidFill>
          <a:ln w="12700">
            <a:solidFill>
              <a:srgbClr val="7B1E3A"/>
            </a:solidFill>
            <a:prstDash val="solid"/>
          </a:ln>
        </p:spPr>
      </p:sp>
      <p:sp>
        <p:nvSpPr>
          <p:cNvPr id="25" name="AQI label Severe"/>
          <p:cNvSpPr txBox="1"/>
          <p:nvPr/>
        </p:nvSpPr>
        <p:spPr>
          <a:xfrm>
            <a:off x="3666744" y="374904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Severe</a:t>
            </a:r>
            <a:endParaRPr lang="en-US" sz="1000" dirty="0"/>
          </a:p>
        </p:txBody>
      </p:sp>
      <p:sp>
        <p:nvSpPr>
          <p:cNvPr id="26" name="Typography card"/>
          <p:cNvSpPr/>
          <p:nvPr/>
        </p:nvSpPr>
        <p:spPr>
          <a:xfrm>
            <a:off x="475488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ypography label"/>
          <p:cNvSpPr txBox="1"/>
          <p:nvPr/>
        </p:nvSpPr>
        <p:spPr>
          <a:xfrm>
            <a:off x="4983480" y="1280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TYPOGRAPHY</a:t>
            </a:r>
            <a:endParaRPr lang="en-US" sz="1200" dirty="0"/>
          </a:p>
        </p:txBody>
      </p:sp>
      <p:sp>
        <p:nvSpPr>
          <p:cNvPr id="28" name="Type sample"/>
          <p:cNvSpPr txBox="1"/>
          <p:nvPr/>
        </p:nvSpPr>
        <p:spPr>
          <a:xfrm>
            <a:off x="4983480" y="16002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Aa</a:t>
            </a:r>
            <a:endParaRPr lang="en-US" sz="4800" dirty="0"/>
          </a:p>
        </p:txBody>
      </p:sp>
      <p:sp>
        <p:nvSpPr>
          <p:cNvPr id="29" name="Type list"/>
          <p:cNvSpPr txBox="1"/>
          <p:nvPr/>
        </p:nvSpPr>
        <p:spPr>
          <a:xfrm>
            <a:off x="6035040" y="16002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Bold sans-serif for headings and buttons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Clean sans-serif for body and labels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Large numerals for AQI values</a:t>
            </a:r>
            <a:endParaRPr lang="en-US" sz="1200" dirty="0"/>
          </a:p>
        </p:txBody>
      </p:sp>
      <p:sp>
        <p:nvSpPr>
          <p:cNvPr id="30" name="Components card"/>
          <p:cNvSpPr/>
          <p:nvPr/>
        </p:nvSpPr>
        <p:spPr>
          <a:xfrm>
            <a:off x="4754880" y="2926080"/>
            <a:ext cx="393192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Components label"/>
          <p:cNvSpPr txBox="1"/>
          <p:nvPr/>
        </p:nvSpPr>
        <p:spPr>
          <a:xfrm>
            <a:off x="4983480" y="3063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REUSABLE COMPONENTS</a:t>
            </a:r>
            <a:endParaRPr lang="en-US" sz="1200" dirty="0"/>
          </a:p>
        </p:txBody>
      </p:sp>
      <p:sp>
        <p:nvSpPr>
          <p:cNvPr id="32" name="Components list"/>
          <p:cNvSpPr txBox="1"/>
          <p:nvPr/>
        </p:nvSpPr>
        <p:spPr>
          <a:xfrm>
            <a:off x="4983480" y="3364992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Pill buttons, input fields, tab switch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AQI gauge, pollutant and alert cards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Station markers, sensor rows, dialogs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Bottom bar: Home, Map, Alerts, Profile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High-Fidelity Screens: Getting Started</a:t>
            </a:r>
            <a:endParaRPr lang="en-US" sz="3000" dirty="0"/>
          </a:p>
        </p:txBody>
      </p:sp>
      <p:sp>
        <p:nvSpPr>
          <p:cNvPr id="3" name="Screen Splash frame"/>
          <p:cNvSpPr/>
          <p:nvPr/>
        </p:nvSpPr>
        <p:spPr>
          <a:xfrm>
            <a:off x="704088" y="1024128"/>
            <a:ext cx="1527529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Screen Splash" descr="Spla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51560"/>
            <a:ext cx="1472665" cy="3108960"/>
          </a:xfrm>
          <a:prstGeom prst="rect">
            <a:avLst/>
          </a:prstGeom>
        </p:spPr>
      </p:pic>
      <p:sp>
        <p:nvSpPr>
          <p:cNvPr id="5" name="Screen Splash caption"/>
          <p:cNvSpPr txBox="1"/>
          <p:nvPr/>
        </p:nvSpPr>
        <p:spPr>
          <a:xfrm>
            <a:off x="457200" y="4251960"/>
            <a:ext cx="20213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Splash</a:t>
            </a:r>
            <a:endParaRPr lang="en-US" sz="1100" dirty="0"/>
          </a:p>
        </p:txBody>
      </p:sp>
      <p:sp>
        <p:nvSpPr>
          <p:cNvPr id="6" name="Screen Login frame"/>
          <p:cNvSpPr/>
          <p:nvPr/>
        </p:nvSpPr>
        <p:spPr>
          <a:xfrm>
            <a:off x="2715768" y="1024128"/>
            <a:ext cx="1527529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Screen Login" descr="Log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51560"/>
            <a:ext cx="1472665" cy="3108960"/>
          </a:xfrm>
          <a:prstGeom prst="rect">
            <a:avLst/>
          </a:prstGeom>
        </p:spPr>
      </p:pic>
      <p:sp>
        <p:nvSpPr>
          <p:cNvPr id="8" name="Screen Login caption"/>
          <p:cNvSpPr txBox="1"/>
          <p:nvPr/>
        </p:nvSpPr>
        <p:spPr>
          <a:xfrm>
            <a:off x="2468880" y="4251960"/>
            <a:ext cx="20213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Login</a:t>
            </a:r>
            <a:endParaRPr lang="en-US" sz="1100" dirty="0"/>
          </a:p>
        </p:txBody>
      </p:sp>
      <p:sp>
        <p:nvSpPr>
          <p:cNvPr id="9" name="Screen Sign Up frame"/>
          <p:cNvSpPr/>
          <p:nvPr/>
        </p:nvSpPr>
        <p:spPr>
          <a:xfrm>
            <a:off x="4727448" y="1024128"/>
            <a:ext cx="1527529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Screen Sign Up" descr="Sign 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51560"/>
            <a:ext cx="1472665" cy="3108960"/>
          </a:xfrm>
          <a:prstGeom prst="rect">
            <a:avLst/>
          </a:prstGeom>
        </p:spPr>
      </p:pic>
      <p:sp>
        <p:nvSpPr>
          <p:cNvPr id="11" name="Screen Sign Up caption"/>
          <p:cNvSpPr txBox="1"/>
          <p:nvPr/>
        </p:nvSpPr>
        <p:spPr>
          <a:xfrm>
            <a:off x="4480560" y="4251960"/>
            <a:ext cx="20213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Sign Up</a:t>
            </a:r>
            <a:endParaRPr lang="en-US" sz="1100" dirty="0"/>
          </a:p>
        </p:txBody>
      </p:sp>
      <p:sp>
        <p:nvSpPr>
          <p:cNvPr id="12" name="Screen Home Dashboard frame"/>
          <p:cNvSpPr/>
          <p:nvPr/>
        </p:nvSpPr>
        <p:spPr>
          <a:xfrm>
            <a:off x="6739128" y="1024128"/>
            <a:ext cx="1527529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Screen Home Dashboard" descr="Home Dashbo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051560"/>
            <a:ext cx="1472665" cy="3108960"/>
          </a:xfrm>
          <a:prstGeom prst="rect">
            <a:avLst/>
          </a:prstGeom>
        </p:spPr>
      </p:pic>
      <p:sp>
        <p:nvSpPr>
          <p:cNvPr id="14" name="Screen Home Dashboard caption"/>
          <p:cNvSpPr txBox="1"/>
          <p:nvPr/>
        </p:nvSpPr>
        <p:spPr>
          <a:xfrm>
            <a:off x="6492240" y="4251960"/>
            <a:ext cx="20213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Home Dashboard</a:t>
            </a:r>
            <a:endParaRPr lang="en-US" sz="1100" dirty="0"/>
          </a:p>
        </p:txBody>
      </p:sp>
      <p:sp>
        <p:nvSpPr>
          <p:cNvPr id="15" name="Screens note 1"/>
          <p:cNvSpPr txBox="1"/>
          <p:nvPr/>
        </p:nvSpPr>
        <p:spPr>
          <a:xfrm>
            <a:off x="45720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Guest access, social sign-in and a large colour-coded AQI gauge make the first minute simple.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High-Fidelity Screens: Monitor and Report</a:t>
            </a:r>
            <a:endParaRPr lang="en-US" sz="3000" dirty="0"/>
          </a:p>
        </p:txBody>
      </p:sp>
      <p:sp>
        <p:nvSpPr>
          <p:cNvPr id="3" name="Screen Pollutant Details frame"/>
          <p:cNvSpPr/>
          <p:nvPr/>
        </p:nvSpPr>
        <p:spPr>
          <a:xfrm>
            <a:off x="704088" y="1024128"/>
            <a:ext cx="1527529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Screen Pollutant Details" descr="Pollutant Deta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51560"/>
            <a:ext cx="1472665" cy="3108960"/>
          </a:xfrm>
          <a:prstGeom prst="rect">
            <a:avLst/>
          </a:prstGeom>
        </p:spPr>
      </p:pic>
      <p:sp>
        <p:nvSpPr>
          <p:cNvPr id="5" name="Screen Pollutant Details caption"/>
          <p:cNvSpPr txBox="1"/>
          <p:nvPr/>
        </p:nvSpPr>
        <p:spPr>
          <a:xfrm>
            <a:off x="457200" y="4251960"/>
            <a:ext cx="20213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Pollutant Details</a:t>
            </a:r>
            <a:endParaRPr lang="en-US" sz="1100" dirty="0"/>
          </a:p>
        </p:txBody>
      </p:sp>
      <p:sp>
        <p:nvSpPr>
          <p:cNvPr id="6" name="Screen Monitoring Map frame"/>
          <p:cNvSpPr/>
          <p:nvPr/>
        </p:nvSpPr>
        <p:spPr>
          <a:xfrm>
            <a:off x="2715768" y="1024128"/>
            <a:ext cx="1527529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Screen Monitoring Map" descr="Monitoring 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51560"/>
            <a:ext cx="1472665" cy="3108960"/>
          </a:xfrm>
          <a:prstGeom prst="rect">
            <a:avLst/>
          </a:prstGeom>
        </p:spPr>
      </p:pic>
      <p:sp>
        <p:nvSpPr>
          <p:cNvPr id="8" name="Screen Monitoring Map caption"/>
          <p:cNvSpPr txBox="1"/>
          <p:nvPr/>
        </p:nvSpPr>
        <p:spPr>
          <a:xfrm>
            <a:off x="2468880" y="4251960"/>
            <a:ext cx="20213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Monitoring Map</a:t>
            </a:r>
            <a:endParaRPr lang="en-US" sz="1100" dirty="0"/>
          </a:p>
        </p:txBody>
      </p:sp>
      <p:sp>
        <p:nvSpPr>
          <p:cNvPr id="9" name="Screen Alerts frame"/>
          <p:cNvSpPr/>
          <p:nvPr/>
        </p:nvSpPr>
        <p:spPr>
          <a:xfrm>
            <a:off x="4727448" y="1024128"/>
            <a:ext cx="1527529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Screen Alerts" descr="Aler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51560"/>
            <a:ext cx="1472665" cy="3108960"/>
          </a:xfrm>
          <a:prstGeom prst="rect">
            <a:avLst/>
          </a:prstGeom>
        </p:spPr>
      </p:pic>
      <p:sp>
        <p:nvSpPr>
          <p:cNvPr id="11" name="Screen Alerts caption"/>
          <p:cNvSpPr txBox="1"/>
          <p:nvPr/>
        </p:nvSpPr>
        <p:spPr>
          <a:xfrm>
            <a:off x="4480560" y="4251960"/>
            <a:ext cx="20213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Alerts</a:t>
            </a:r>
            <a:endParaRPr lang="en-US" sz="1100" dirty="0"/>
          </a:p>
        </p:txBody>
      </p:sp>
      <p:sp>
        <p:nvSpPr>
          <p:cNvPr id="12" name="Screen Report Pollution frame"/>
          <p:cNvSpPr/>
          <p:nvPr/>
        </p:nvSpPr>
        <p:spPr>
          <a:xfrm>
            <a:off x="6739128" y="1024128"/>
            <a:ext cx="1527529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Screen Report Pollution" descr="Report Pollu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051560"/>
            <a:ext cx="1472665" cy="3108960"/>
          </a:xfrm>
          <a:prstGeom prst="rect">
            <a:avLst/>
          </a:prstGeom>
        </p:spPr>
      </p:pic>
      <p:sp>
        <p:nvSpPr>
          <p:cNvPr id="14" name="Screen Report Pollution caption"/>
          <p:cNvSpPr txBox="1"/>
          <p:nvPr/>
        </p:nvSpPr>
        <p:spPr>
          <a:xfrm>
            <a:off x="6492240" y="4251960"/>
            <a:ext cx="20213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Report Pollution</a:t>
            </a:r>
            <a:endParaRPr lang="en-US" sz="1100" dirty="0"/>
          </a:p>
        </p:txBody>
      </p:sp>
      <p:sp>
        <p:nvSpPr>
          <p:cNvPr id="15" name="Screens note 2"/>
          <p:cNvSpPr txBox="1"/>
          <p:nvPr/>
        </p:nvSpPr>
        <p:spPr>
          <a:xfrm>
            <a:off x="45720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Trend graphs, nearby stations, actionable alerts and three-step reporting.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High-Fidelity Screens: Control and Advice</a:t>
            </a:r>
            <a:endParaRPr lang="en-US" sz="3000" dirty="0"/>
          </a:p>
        </p:txBody>
      </p:sp>
      <p:sp>
        <p:nvSpPr>
          <p:cNvPr id="3" name="Screen Control Panel frame"/>
          <p:cNvSpPr/>
          <p:nvPr/>
        </p:nvSpPr>
        <p:spPr>
          <a:xfrm>
            <a:off x="704088" y="1069848"/>
            <a:ext cx="1592500" cy="33009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Screen Control Panel" descr="Control 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537636" cy="3246120"/>
          </a:xfrm>
          <a:prstGeom prst="rect">
            <a:avLst/>
          </a:prstGeom>
        </p:spPr>
      </p:pic>
      <p:sp>
        <p:nvSpPr>
          <p:cNvPr id="5" name="Screen Control Panel caption"/>
          <p:cNvSpPr txBox="1"/>
          <p:nvPr/>
        </p:nvSpPr>
        <p:spPr>
          <a:xfrm>
            <a:off x="457200" y="4434840"/>
            <a:ext cx="2086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Control Panel</a:t>
            </a:r>
            <a:endParaRPr lang="en-US" sz="1100" dirty="0"/>
          </a:p>
        </p:txBody>
      </p:sp>
      <p:sp>
        <p:nvSpPr>
          <p:cNvPr id="6" name="Screen Health Advisory frame"/>
          <p:cNvSpPr/>
          <p:nvPr/>
        </p:nvSpPr>
        <p:spPr>
          <a:xfrm>
            <a:off x="2670048" y="1069848"/>
            <a:ext cx="1592500" cy="33009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Screen Health Advisory" descr="Health Advis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097280"/>
            <a:ext cx="1537636" cy="3246120"/>
          </a:xfrm>
          <a:prstGeom prst="rect">
            <a:avLst/>
          </a:prstGeom>
        </p:spPr>
      </p:pic>
      <p:sp>
        <p:nvSpPr>
          <p:cNvPr id="8" name="Screen Health Advisory caption"/>
          <p:cNvSpPr txBox="1"/>
          <p:nvPr/>
        </p:nvSpPr>
        <p:spPr>
          <a:xfrm>
            <a:off x="2423160" y="4434840"/>
            <a:ext cx="2086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Health Advisory</a:t>
            </a:r>
            <a:endParaRPr lang="en-US" sz="1100" dirty="0"/>
          </a:p>
        </p:txBody>
      </p:sp>
      <p:sp>
        <p:nvSpPr>
          <p:cNvPr id="9" name="Feature card 1"/>
          <p:cNvSpPr/>
          <p:nvPr/>
        </p:nvSpPr>
        <p:spPr>
          <a:xfrm>
            <a:off x="6400800" y="1143000"/>
            <a:ext cx="228600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con feature 1 bg"/>
          <p:cNvSpPr/>
          <p:nvPr/>
        </p:nvSpPr>
        <p:spPr>
          <a:xfrm>
            <a:off x="653796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feature 1" descr="Icon feature 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1399032"/>
            <a:ext cx="219456" cy="219456"/>
          </a:xfrm>
          <a:prstGeom prst="rect">
            <a:avLst/>
          </a:prstGeom>
        </p:spPr>
      </p:pic>
      <p:sp>
        <p:nvSpPr>
          <p:cNvPr id="12" name="Feature title 1"/>
          <p:cNvSpPr txBox="1"/>
          <p:nvPr/>
        </p:nvSpPr>
        <p:spPr>
          <a:xfrm>
            <a:off x="7086600" y="12527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Operator Control Panel</a:t>
            </a:r>
            <a:endParaRPr lang="en-US" sz="1300" dirty="0"/>
          </a:p>
        </p:txBody>
      </p:sp>
      <p:sp>
        <p:nvSpPr>
          <p:cNvPr id="13" name="Feature text 1"/>
          <p:cNvSpPr txBox="1"/>
          <p:nvPr/>
        </p:nvSpPr>
        <p:spPr>
          <a:xfrm>
            <a:off x="6537960" y="1856232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Sensor status, threshold bars and confirm-before-action controls such as purifier and sprinklers.</a:t>
            </a:r>
            <a:endParaRPr lang="en-US" sz="1100" dirty="0"/>
          </a:p>
        </p:txBody>
      </p:sp>
      <p:sp>
        <p:nvSpPr>
          <p:cNvPr id="14" name="Feature card 2"/>
          <p:cNvSpPr/>
          <p:nvPr/>
        </p:nvSpPr>
        <p:spPr>
          <a:xfrm>
            <a:off x="6400800" y="2880360"/>
            <a:ext cx="228600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Icon feature 2 bg"/>
          <p:cNvSpPr/>
          <p:nvPr/>
        </p:nvSpPr>
        <p:spPr>
          <a:xfrm>
            <a:off x="6537960" y="3017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 feature 2" descr="Icon feature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136392"/>
            <a:ext cx="219456" cy="219456"/>
          </a:xfrm>
          <a:prstGeom prst="rect">
            <a:avLst/>
          </a:prstGeom>
        </p:spPr>
      </p:pic>
      <p:sp>
        <p:nvSpPr>
          <p:cNvPr id="17" name="Feature title 2"/>
          <p:cNvSpPr txBox="1"/>
          <p:nvPr/>
        </p:nvSpPr>
        <p:spPr>
          <a:xfrm>
            <a:off x="7086600" y="299008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Health Advisory</a:t>
            </a:r>
            <a:endParaRPr lang="en-US" sz="1300" dirty="0"/>
          </a:p>
        </p:txBody>
      </p:sp>
      <p:sp>
        <p:nvSpPr>
          <p:cNvPr id="18" name="Feature text 2"/>
          <p:cNvSpPr txBox="1"/>
          <p:nvPr/>
        </p:nvSpPr>
        <p:spPr>
          <a:xfrm>
            <a:off x="6537960" y="3593592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Advice for the general public, children, the elderly and people with respiratory conditions.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Prototype in Figma</a:t>
            </a:r>
            <a:endParaRPr lang="en-US" sz="3000" dirty="0"/>
          </a:p>
        </p:txBody>
      </p:sp>
      <p:sp>
        <p:nvSpPr>
          <p:cNvPr id="3" name="Prototype frame"/>
          <p:cNvSpPr/>
          <p:nvPr/>
        </p:nvSpPr>
        <p:spPr>
          <a:xfrm>
            <a:off x="429768" y="1115568"/>
            <a:ext cx="499262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Prototype flow" descr="Complete prototype flow in Fig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937760" cy="3535070"/>
          </a:xfrm>
          <a:prstGeom prst="rect">
            <a:avLst/>
          </a:prstGeom>
        </p:spPr>
      </p:pic>
      <p:sp>
        <p:nvSpPr>
          <p:cNvPr id="5" name="Prototype card 1"/>
          <p:cNvSpPr/>
          <p:nvPr/>
        </p:nvSpPr>
        <p:spPr>
          <a:xfrm>
            <a:off x="5669280" y="1143000"/>
            <a:ext cx="301752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prototype 1 bg"/>
          <p:cNvSpPr/>
          <p:nvPr/>
        </p:nvSpPr>
        <p:spPr>
          <a:xfrm>
            <a:off x="5806440" y="138988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prototype 1" descr="Icon prototyp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841" y="1537289"/>
            <a:ext cx="272125" cy="272125"/>
          </a:xfrm>
          <a:prstGeom prst="rect">
            <a:avLst/>
          </a:prstGeom>
        </p:spPr>
      </p:pic>
      <p:sp>
        <p:nvSpPr>
          <p:cNvPr id="8" name="Prototype title 1"/>
          <p:cNvSpPr txBox="1"/>
          <p:nvPr/>
        </p:nvSpPr>
        <p:spPr>
          <a:xfrm>
            <a:off x="649224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Screen navigation</a:t>
            </a:r>
            <a:endParaRPr lang="en-US" sz="1400" dirty="0"/>
          </a:p>
        </p:txBody>
      </p:sp>
      <p:sp>
        <p:nvSpPr>
          <p:cNvPr id="9" name="Prototype text 1"/>
          <p:cNvSpPr txBox="1"/>
          <p:nvPr/>
        </p:nvSpPr>
        <p:spPr>
          <a:xfrm>
            <a:off x="6492240" y="16184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All screens connected in one journey</a:t>
            </a:r>
            <a:endParaRPr lang="en-US" sz="1100" dirty="0"/>
          </a:p>
        </p:txBody>
      </p:sp>
      <p:sp>
        <p:nvSpPr>
          <p:cNvPr id="10" name="Prototype card 2"/>
          <p:cNvSpPr/>
          <p:nvPr/>
        </p:nvSpPr>
        <p:spPr>
          <a:xfrm>
            <a:off x="5669280" y="2350008"/>
            <a:ext cx="301752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prototype 2 bg"/>
          <p:cNvSpPr/>
          <p:nvPr/>
        </p:nvSpPr>
        <p:spPr>
          <a:xfrm>
            <a:off x="5806440" y="259689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 prototype 2" descr="Icon prototype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841" y="2744297"/>
            <a:ext cx="272125" cy="272125"/>
          </a:xfrm>
          <a:prstGeom prst="rect">
            <a:avLst/>
          </a:prstGeom>
        </p:spPr>
      </p:pic>
      <p:sp>
        <p:nvSpPr>
          <p:cNvPr id="13" name="Prototype title 2"/>
          <p:cNvSpPr txBox="1"/>
          <p:nvPr/>
        </p:nvSpPr>
        <p:spPr>
          <a:xfrm>
            <a:off x="6492240" y="2532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Alert and reporting flow</a:t>
            </a:r>
            <a:endParaRPr lang="en-US" sz="1400" dirty="0"/>
          </a:p>
        </p:txBody>
      </p:sp>
      <p:sp>
        <p:nvSpPr>
          <p:cNvPr id="14" name="Prototype text 2"/>
          <p:cNvSpPr txBox="1"/>
          <p:nvPr/>
        </p:nvSpPr>
        <p:spPr>
          <a:xfrm>
            <a:off x="6492240" y="28254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Demonstrated end to end</a:t>
            </a:r>
            <a:endParaRPr lang="en-US" sz="1100" dirty="0"/>
          </a:p>
        </p:txBody>
      </p:sp>
      <p:sp>
        <p:nvSpPr>
          <p:cNvPr id="15" name="Prototype card 3"/>
          <p:cNvSpPr/>
          <p:nvPr/>
        </p:nvSpPr>
        <p:spPr>
          <a:xfrm>
            <a:off x="5669280" y="3557016"/>
            <a:ext cx="3017520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prototype 3 bg"/>
          <p:cNvSpPr/>
          <p:nvPr/>
        </p:nvSpPr>
        <p:spPr>
          <a:xfrm>
            <a:off x="5806440" y="380390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 prototype 3" descr="Icon prototype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841" y="3951305"/>
            <a:ext cx="272125" cy="272125"/>
          </a:xfrm>
          <a:prstGeom prst="rect">
            <a:avLst/>
          </a:prstGeom>
        </p:spPr>
      </p:pic>
      <p:sp>
        <p:nvSpPr>
          <p:cNvPr id="18" name="Prototype title 3"/>
          <p:cNvSpPr txBox="1"/>
          <p:nvPr/>
        </p:nvSpPr>
        <p:spPr>
          <a:xfrm>
            <a:off x="6492240" y="37398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Journey simulation</a:t>
            </a:r>
            <a:endParaRPr lang="en-US" sz="1400" dirty="0"/>
          </a:p>
        </p:txBody>
      </p:sp>
      <p:sp>
        <p:nvSpPr>
          <p:cNvPr id="19" name="Prototype text 3"/>
          <p:cNvSpPr txBox="1"/>
          <p:nvPr/>
        </p:nvSpPr>
        <p:spPr>
          <a:xfrm>
            <a:off x="6492240" y="40325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Realistic preview for developers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Results</a:t>
            </a:r>
            <a:endParaRPr lang="en-US" sz="3000" dirty="0"/>
          </a:p>
        </p:txBody>
      </p:sp>
      <p:sp>
        <p:nvSpPr>
          <p:cNvPr id="3" name="Test type card 1"/>
          <p:cNvSpPr/>
          <p:nvPr/>
        </p:nvSpPr>
        <p:spPr>
          <a:xfrm>
            <a:off x="457200" y="1143000"/>
            <a:ext cx="411480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test 1 bg"/>
          <p:cNvSpPr/>
          <p:nvPr/>
        </p:nvSpPr>
        <p:spPr>
          <a:xfrm>
            <a:off x="594360" y="138988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 test 1" descr="Icon test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006" y="1532534"/>
            <a:ext cx="263347" cy="263347"/>
          </a:xfrm>
          <a:prstGeom prst="rect">
            <a:avLst/>
          </a:prstGeom>
        </p:spPr>
      </p:pic>
      <p:sp>
        <p:nvSpPr>
          <p:cNvPr id="6" name="Test title 1"/>
          <p:cNvSpPr txBox="1"/>
          <p:nvPr/>
        </p:nvSpPr>
        <p:spPr>
          <a:xfrm>
            <a:off x="132588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Functional testing</a:t>
            </a:r>
            <a:endParaRPr lang="en-US" sz="1400" dirty="0"/>
          </a:p>
        </p:txBody>
      </p:sp>
      <p:sp>
        <p:nvSpPr>
          <p:cNvPr id="7" name="Test text 1"/>
          <p:cNvSpPr txBox="1"/>
          <p:nvPr/>
        </p:nvSpPr>
        <p:spPr>
          <a:xfrm>
            <a:off x="1325880" y="15727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Login, guest flow, navigation, alerts, reporting and control actions</a:t>
            </a:r>
            <a:endParaRPr lang="en-US" sz="1100" dirty="0"/>
          </a:p>
        </p:txBody>
      </p:sp>
      <p:sp>
        <p:nvSpPr>
          <p:cNvPr id="8" name="Test type card 2"/>
          <p:cNvSpPr/>
          <p:nvPr/>
        </p:nvSpPr>
        <p:spPr>
          <a:xfrm>
            <a:off x="457200" y="2331720"/>
            <a:ext cx="411480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test 2 bg"/>
          <p:cNvSpPr/>
          <p:nvPr/>
        </p:nvSpPr>
        <p:spPr>
          <a:xfrm>
            <a:off x="594360" y="257860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 test 2" descr="Icon test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" y="2721254"/>
            <a:ext cx="263347" cy="263347"/>
          </a:xfrm>
          <a:prstGeom prst="rect">
            <a:avLst/>
          </a:prstGeom>
        </p:spPr>
      </p:pic>
      <p:sp>
        <p:nvSpPr>
          <p:cNvPr id="11" name="Test title 2"/>
          <p:cNvSpPr txBox="1"/>
          <p:nvPr/>
        </p:nvSpPr>
        <p:spPr>
          <a:xfrm>
            <a:off x="132588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UI testing</a:t>
            </a:r>
            <a:endParaRPr lang="en-US" sz="1400" dirty="0"/>
          </a:p>
        </p:txBody>
      </p:sp>
      <p:sp>
        <p:nvSpPr>
          <p:cNvPr id="12" name="Test text 2"/>
          <p:cNvSpPr txBox="1"/>
          <p:nvPr/>
        </p:nvSpPr>
        <p:spPr>
          <a:xfrm>
            <a:off x="1325880" y="276148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Colour accuracy, readability, button size, layout and responsiveness</a:t>
            </a:r>
            <a:endParaRPr lang="en-US" sz="1100" dirty="0"/>
          </a:p>
        </p:txBody>
      </p:sp>
      <p:sp>
        <p:nvSpPr>
          <p:cNvPr id="13" name="Test type card 3"/>
          <p:cNvSpPr/>
          <p:nvPr/>
        </p:nvSpPr>
        <p:spPr>
          <a:xfrm>
            <a:off x="457200" y="3520440"/>
            <a:ext cx="411480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 test 3 bg"/>
          <p:cNvSpPr/>
          <p:nvPr/>
        </p:nvSpPr>
        <p:spPr>
          <a:xfrm>
            <a:off x="594360" y="376732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 test 3" descr="Icon test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" y="3909974"/>
            <a:ext cx="263347" cy="263347"/>
          </a:xfrm>
          <a:prstGeom prst="rect">
            <a:avLst/>
          </a:prstGeom>
        </p:spPr>
      </p:pic>
      <p:sp>
        <p:nvSpPr>
          <p:cNvPr id="16" name="Test title 3"/>
          <p:cNvSpPr txBox="1"/>
          <p:nvPr/>
        </p:nvSpPr>
        <p:spPr>
          <a:xfrm>
            <a:off x="132588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Usability testing</a:t>
            </a:r>
            <a:endParaRPr lang="en-US" sz="1400" dirty="0"/>
          </a:p>
        </p:txBody>
      </p:sp>
      <p:sp>
        <p:nvSpPr>
          <p:cNvPr id="17" name="Test text 3"/>
          <p:cNvSpPr txBox="1"/>
          <p:nvPr/>
        </p:nvSpPr>
        <p:spPr>
          <a:xfrm>
            <a:off x="1325880" y="39502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Navigation flow, design issues and ease of use</a:t>
            </a:r>
            <a:endParaRPr lang="en-US" sz="1100" dirty="0"/>
          </a:p>
        </p:txBody>
      </p:sp>
      <p:sp>
        <p:nvSpPr>
          <p:cNvPr id="18" name="Results card"/>
          <p:cNvSpPr/>
          <p:nvPr/>
        </p:nvSpPr>
        <p:spPr>
          <a:xfrm>
            <a:off x="4846320" y="1143000"/>
            <a:ext cx="3840480" cy="3429000"/>
          </a:xfrm>
          <a:prstGeom prst="roundRect">
            <a:avLst>
              <a:gd name="adj" fmla="val 2133"/>
            </a:avLst>
          </a:prstGeom>
          <a:solidFill>
            <a:schemeClr val="accent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Result stat"/>
          <p:cNvSpPr txBox="1"/>
          <p:nvPr/>
        </p:nvSpPr>
        <p:spPr>
          <a:xfrm>
            <a:off x="5029200" y="1280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5400" dirty="0"/>
          </a:p>
        </p:txBody>
      </p:sp>
      <p:sp>
        <p:nvSpPr>
          <p:cNvPr id="20" name="Result label"/>
          <p:cNvSpPr txBox="1"/>
          <p:nvPr/>
        </p:nvSpPr>
        <p:spPr>
          <a:xfrm>
            <a:off x="502920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F3EE"/>
                </a:solidFill>
              </a:rPr>
              <a:t>test areas passed</a:t>
            </a:r>
            <a:endParaRPr lang="en-US" sz="1400" dirty="0"/>
          </a:p>
        </p:txBody>
      </p:sp>
      <p:sp>
        <p:nvSpPr>
          <p:cNvPr id="21" name="Result list"/>
          <p:cNvSpPr txBox="1"/>
          <p:nvPr/>
        </p:nvSpPr>
        <p:spPr>
          <a:xfrm>
            <a:off x="5212080" y="2514600"/>
            <a:ext cx="3291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Splash, Login and Sign Up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Home Dashboard navigation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Pollutant details and trends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Monitoring map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Alerts and Health Advisory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Report Pollution · Control Panel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Responsive design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Learning Outcomes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4300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at number 1"/>
          <p:cNvSpPr txBox="1"/>
          <p:nvPr/>
        </p:nvSpPr>
        <p:spPr>
          <a:xfrm>
            <a:off x="457200" y="1188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5" name="Stat label 1"/>
          <p:cNvSpPr txBox="1"/>
          <p:nvPr/>
        </p:nvSpPr>
        <p:spPr>
          <a:xfrm>
            <a:off x="45720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screens designed</a:t>
            </a:r>
            <a:endParaRPr lang="en-US" sz="1300" dirty="0"/>
          </a:p>
        </p:txBody>
      </p:sp>
      <p:sp>
        <p:nvSpPr>
          <p:cNvPr id="6" name="Stat card 2"/>
          <p:cNvSpPr/>
          <p:nvPr/>
        </p:nvSpPr>
        <p:spPr>
          <a:xfrm>
            <a:off x="3291840" y="114300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tat number 2"/>
          <p:cNvSpPr txBox="1"/>
          <p:nvPr/>
        </p:nvSpPr>
        <p:spPr>
          <a:xfrm>
            <a:off x="3291840" y="1188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8" name="Stat label 2"/>
          <p:cNvSpPr txBox="1"/>
          <p:nvPr/>
        </p:nvSpPr>
        <p:spPr>
          <a:xfrm>
            <a:off x="329184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design stages</a:t>
            </a:r>
            <a:endParaRPr lang="en-US" sz="1300" dirty="0"/>
          </a:p>
        </p:txBody>
      </p:sp>
      <p:sp>
        <p:nvSpPr>
          <p:cNvPr id="9" name="Stat card 3"/>
          <p:cNvSpPr/>
          <p:nvPr/>
        </p:nvSpPr>
        <p:spPr>
          <a:xfrm>
            <a:off x="6126480" y="114300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tat number 3"/>
          <p:cNvSpPr txBox="1"/>
          <p:nvPr/>
        </p:nvSpPr>
        <p:spPr>
          <a:xfrm>
            <a:off x="6126480" y="1188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4000" dirty="0"/>
          </a:p>
        </p:txBody>
      </p:sp>
      <p:sp>
        <p:nvSpPr>
          <p:cNvPr id="11" name="Stat label 3"/>
          <p:cNvSpPr txBox="1"/>
          <p:nvPr/>
        </p:nvSpPr>
        <p:spPr>
          <a:xfrm>
            <a:off x="612648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working days</a:t>
            </a:r>
            <a:endParaRPr lang="en-US" sz="1300" dirty="0"/>
          </a:p>
        </p:txBody>
      </p:sp>
      <p:sp>
        <p:nvSpPr>
          <p:cNvPr id="12" name="Skills card"/>
          <p:cNvSpPr/>
          <p:nvPr/>
        </p:nvSpPr>
        <p:spPr>
          <a:xfrm>
            <a:off x="457200" y="2560320"/>
            <a:ext cx="406908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kills label"/>
          <p:cNvSpPr txBox="1"/>
          <p:nvPr/>
        </p:nvSpPr>
        <p:spPr>
          <a:xfrm>
            <a:off x="685800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SKILLS GAINED</a:t>
            </a:r>
            <a:endParaRPr lang="en-US" sz="1200" dirty="0"/>
          </a:p>
        </p:txBody>
      </p:sp>
      <p:sp>
        <p:nvSpPr>
          <p:cNvPr id="14" name="Skills list"/>
          <p:cNvSpPr txBox="1"/>
          <p:nvPr/>
        </p:nvSpPr>
        <p:spPr>
          <a:xfrm>
            <a:off x="685800" y="29718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User research and personas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Wireframing and prototyping in Figma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Design systems and data visualisation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Usability testing and documentation</a:t>
            </a:r>
            <a:endParaRPr lang="en-US" sz="1300" dirty="0"/>
          </a:p>
        </p:txBody>
      </p:sp>
      <p:sp>
        <p:nvSpPr>
          <p:cNvPr id="15" name="Outcome card"/>
          <p:cNvSpPr/>
          <p:nvPr/>
        </p:nvSpPr>
        <p:spPr>
          <a:xfrm>
            <a:off x="4617720" y="2560320"/>
            <a:ext cx="406908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5E2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Outcome label"/>
          <p:cNvSpPr txBox="1"/>
          <p:nvPr/>
        </p:nvSpPr>
        <p:spPr>
          <a:xfrm>
            <a:off x="4846320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WHAT WAS DELIVERED</a:t>
            </a:r>
            <a:endParaRPr lang="en-US" sz="1200" dirty="0"/>
          </a:p>
        </p:txBody>
      </p:sp>
      <p:sp>
        <p:nvSpPr>
          <p:cNvPr id="17" name="Outcome list"/>
          <p:cNvSpPr txBox="1"/>
          <p:nvPr/>
        </p:nvSpPr>
        <p:spPr>
          <a:xfrm>
            <a:off x="4846320" y="29718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clear, calm and trustworthy EcoGuard interface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reusable design system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 interactive prototype ready for developer handoff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3" name="Icon future 1 bg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 future 1" descr="Icon fu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295705"/>
            <a:ext cx="197510" cy="197510"/>
          </a:xfrm>
          <a:prstGeom prst="rect">
            <a:avLst/>
          </a:prstGeom>
        </p:spPr>
      </p:pic>
      <p:sp>
        <p:nvSpPr>
          <p:cNvPr id="5" name="Future item 1"/>
          <p:cNvSpPr txBox="1"/>
          <p:nvPr/>
        </p:nvSpPr>
        <p:spPr>
          <a:xfrm>
            <a:off x="1005840" y="1188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AI-based pollution forecasting</a:t>
            </a:r>
            <a:endParaRPr lang="en-US" sz="1400" dirty="0"/>
          </a:p>
        </p:txBody>
      </p:sp>
      <p:sp>
        <p:nvSpPr>
          <p:cNvPr id="6" name="Icon future 2 bg"/>
          <p:cNvSpPr/>
          <p:nvPr/>
        </p:nvSpPr>
        <p:spPr>
          <a:xfrm>
            <a:off x="457200" y="17373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 future 2" descr="Icon futur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1844345"/>
            <a:ext cx="197510" cy="197510"/>
          </a:xfrm>
          <a:prstGeom prst="rect">
            <a:avLst/>
          </a:prstGeom>
        </p:spPr>
      </p:pic>
      <p:sp>
        <p:nvSpPr>
          <p:cNvPr id="8" name="Future item 2"/>
          <p:cNvSpPr txBox="1"/>
          <p:nvPr/>
        </p:nvSpPr>
        <p:spPr>
          <a:xfrm>
            <a:off x="1005840" y="1737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Voice queries such as “What is the air quality today?”</a:t>
            </a:r>
            <a:endParaRPr lang="en-US" sz="1400" dirty="0"/>
          </a:p>
        </p:txBody>
      </p:sp>
      <p:sp>
        <p:nvSpPr>
          <p:cNvPr id="9" name="Icon future 3 bg"/>
          <p:cNvSpPr/>
          <p:nvPr/>
        </p:nvSpPr>
        <p:spPr>
          <a:xfrm>
            <a:off x="457200" y="22860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 future 3" descr="Icon futur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5" y="2392985"/>
            <a:ext cx="197510" cy="197510"/>
          </a:xfrm>
          <a:prstGeom prst="rect">
            <a:avLst/>
          </a:prstGeom>
        </p:spPr>
      </p:pic>
      <p:sp>
        <p:nvSpPr>
          <p:cNvPr id="11" name="Future item 3"/>
          <p:cNvSpPr txBox="1"/>
          <p:nvPr/>
        </p:nvSpPr>
        <p:spPr>
          <a:xfrm>
            <a:off x="1005840" y="2286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Personalised health alerts</a:t>
            </a:r>
            <a:endParaRPr lang="en-US" sz="1400" dirty="0"/>
          </a:p>
        </p:txBody>
      </p:sp>
      <p:sp>
        <p:nvSpPr>
          <p:cNvPr id="12" name="Icon future 4 bg"/>
          <p:cNvSpPr/>
          <p:nvPr/>
        </p:nvSpPr>
        <p:spPr>
          <a:xfrm>
            <a:off x="457200" y="28346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on future 4" descr="Icon futur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5" y="2941625"/>
            <a:ext cx="197510" cy="197510"/>
          </a:xfrm>
          <a:prstGeom prst="rect">
            <a:avLst/>
          </a:prstGeom>
        </p:spPr>
      </p:pic>
      <p:sp>
        <p:nvSpPr>
          <p:cNvPr id="14" name="Future item 4"/>
          <p:cNvSpPr txBox="1"/>
          <p:nvPr/>
        </p:nvSpPr>
        <p:spPr>
          <a:xfrm>
            <a:off x="1005840" y="2834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Community reports map with upvoting</a:t>
            </a:r>
            <a:endParaRPr lang="en-US" sz="1400" dirty="0"/>
          </a:p>
        </p:txBody>
      </p:sp>
      <p:sp>
        <p:nvSpPr>
          <p:cNvPr id="15" name="Icon future 5 bg"/>
          <p:cNvSpPr/>
          <p:nvPr/>
        </p:nvSpPr>
        <p:spPr>
          <a:xfrm>
            <a:off x="457200" y="33832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on future 5" descr="Icon future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85" y="3490265"/>
            <a:ext cx="197510" cy="197510"/>
          </a:xfrm>
          <a:prstGeom prst="rect">
            <a:avLst/>
          </a:prstGeom>
        </p:spPr>
      </p:pic>
      <p:sp>
        <p:nvSpPr>
          <p:cNvPr id="17" name="Future item 5"/>
          <p:cNvSpPr txBox="1"/>
          <p:nvPr/>
        </p:nvSpPr>
        <p:spPr>
          <a:xfrm>
            <a:off x="1005840" y="3383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Multi-language support, including Tamil</a:t>
            </a:r>
            <a:endParaRPr lang="en-US" sz="1400" dirty="0"/>
          </a:p>
        </p:txBody>
      </p:sp>
      <p:sp>
        <p:nvSpPr>
          <p:cNvPr id="18" name="Icon future 6 bg"/>
          <p:cNvSpPr/>
          <p:nvPr/>
        </p:nvSpPr>
        <p:spPr>
          <a:xfrm>
            <a:off x="457200" y="39319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con future 6" descr="Icon future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5" y="4038905"/>
            <a:ext cx="197510" cy="197510"/>
          </a:xfrm>
          <a:prstGeom prst="rect">
            <a:avLst/>
          </a:prstGeom>
        </p:spPr>
      </p:pic>
      <p:sp>
        <p:nvSpPr>
          <p:cNvPr id="20" name="Future item 6"/>
          <p:cNvSpPr txBox="1"/>
          <p:nvPr/>
        </p:nvSpPr>
        <p:spPr>
          <a:xfrm>
            <a:off x="1005840" y="3931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Frontend, backend and IoT sensor integration</a:t>
            </a:r>
            <a:endParaRPr lang="en-US" sz="1400" dirty="0"/>
          </a:p>
        </p:txBody>
      </p:sp>
      <p:sp>
        <p:nvSpPr>
          <p:cNvPr id="21" name="Thanks card"/>
          <p:cNvSpPr/>
          <p:nvPr/>
        </p:nvSpPr>
        <p:spPr>
          <a:xfrm>
            <a:off x="5577840" y="1188720"/>
            <a:ext cx="3108960" cy="3108960"/>
          </a:xfrm>
          <a:prstGeom prst="roundRect">
            <a:avLst>
              <a:gd name="adj" fmla="val 2941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2" name="Thanks title"/>
          <p:cNvSpPr txBox="1"/>
          <p:nvPr/>
        </p:nvSpPr>
        <p:spPr>
          <a:xfrm>
            <a:off x="5669280" y="1554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3" name="Thanks tagline"/>
          <p:cNvSpPr txBox="1"/>
          <p:nvPr/>
        </p:nvSpPr>
        <p:spPr>
          <a:xfrm>
            <a:off x="566928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DE7E0"/>
                </a:solidFill>
              </a:rPr>
              <a:t>Breathe. Monitor. Act.</a:t>
            </a:r>
            <a:endParaRPr lang="en-US" sz="1500" dirty="0"/>
          </a:p>
        </p:txBody>
      </p:sp>
      <p:sp>
        <p:nvSpPr>
          <p:cNvPr id="24" name="Thanks name"/>
          <p:cNvSpPr txBox="1"/>
          <p:nvPr/>
        </p:nvSpPr>
        <p:spPr>
          <a:xfrm>
            <a:off x="5669280" y="3017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Aruvi V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810023104027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Guard">
  <a:themeElements>
    <a:clrScheme name="EcoGuard">
      <a:dk1>
        <a:srgbClr val="12302C"/>
      </a:dk1>
      <a:lt1>
        <a:srgbClr val="FFFFFF"/>
      </a:lt1>
      <a:dk2>
        <a:srgbClr val="0B4D44"/>
      </a:dk2>
      <a:lt2>
        <a:srgbClr val="F1F7F5"/>
      </a:lt2>
      <a:accent1>
        <a:srgbClr val="0E7C66"/>
      </a:accent1>
      <a:accent2>
        <a:srgbClr val="14A38B"/>
      </a:accent2>
      <a:accent3>
        <a:srgbClr val="F59E0B"/>
      </a:accent3>
      <a:accent4>
        <a:srgbClr val="E53935"/>
      </a:accent4>
      <a:accent5>
        <a:srgbClr val="8CC63F"/>
      </a:accent5>
      <a:accent6>
        <a:srgbClr val="7B1E3A"/>
      </a:accent6>
      <a:hlink>
        <a:srgbClr val="0E7C66"/>
      </a:hlink>
      <a:folHlink>
        <a:srgbClr val="5C6B66"/>
      </a:folHlink>
    </a:clrScheme>
    <a:fontScheme name="EcoGu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UI/UX Design of EcoGuard – Pollution Control System</dc:title>
  <dc:subject>PptxGenJS Presentation</dc:subject>
  <dc:creator>Aruvi V</dc:creator>
  <cp:lastModifiedBy>Aruvi V</cp:lastModifiedBy>
  <cp:revision>1</cp:revision>
  <dcterms:created xsi:type="dcterms:W3CDTF">2026-10-28T03:44:41Z</dcterms:created>
  <dcterms:modified xsi:type="dcterms:W3CDTF">2026-10-28T03:44:41Z</dcterms:modified>
</cp:coreProperties>
</file>